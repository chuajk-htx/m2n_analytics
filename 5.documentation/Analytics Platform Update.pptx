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74" r:id="rId3"/>
    <p:sldId id="275" r:id="rId4"/>
    <p:sldId id="277" r:id="rId5"/>
    <p:sldId id="278" r:id="rId6"/>
    <p:sldId id="280" r:id="rId7"/>
    <p:sldId id="279" r:id="rId8"/>
    <p:sldId id="281" r:id="rId9"/>
    <p:sldId id="282" r:id="rId10"/>
    <p:sldId id="283" r:id="rId11"/>
    <p:sldId id="276" r:id="rId12"/>
    <p:sldId id="268" r:id="rId13"/>
    <p:sldId id="257" r:id="rId14"/>
    <p:sldId id="258" r:id="rId15"/>
    <p:sldId id="259" r:id="rId16"/>
    <p:sldId id="262" r:id="rId17"/>
    <p:sldId id="269" r:id="rId18"/>
    <p:sldId id="271" r:id="rId19"/>
    <p:sldId id="264" r:id="rId20"/>
    <p:sldId id="265" r:id="rId21"/>
    <p:sldId id="266" r:id="rId22"/>
    <p:sldId id="267" r:id="rId23"/>
    <p:sldId id="272" r:id="rId24"/>
    <p:sldId id="261" r:id="rId25"/>
    <p:sldId id="273" r:id="rId26"/>
    <p:sldId id="26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4" autoAdjust="0"/>
  </p:normalViewPr>
  <p:slideViewPr>
    <p:cSldViewPr snapToGrid="0">
      <p:cViewPr varScale="1">
        <p:scale>
          <a:sx n="105" d="100"/>
          <a:sy n="105" d="100"/>
        </p:scale>
        <p:origin x="834"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2765" y="4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CF95ED-1A83-4F28-B618-DFC0258E3401}"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SG"/>
        </a:p>
      </dgm:t>
    </dgm:pt>
    <dgm:pt modelId="{133855F5-4AB6-47F6-A006-8CF3B5224983}">
      <dgm:prSet phldrT="[Text]"/>
      <dgm:spPr/>
      <dgm:t>
        <a:bodyPr/>
        <a:lstStyle/>
        <a:p>
          <a:r>
            <a:rPr lang="en-SG" dirty="0"/>
            <a:t>Formulation</a:t>
          </a:r>
        </a:p>
      </dgm:t>
    </dgm:pt>
    <dgm:pt modelId="{543B5809-ECDE-479F-976B-50B4F1196800}" type="parTrans" cxnId="{1ADD404B-D5C0-473B-94E8-9A88BE11CBD0}">
      <dgm:prSet/>
      <dgm:spPr/>
      <dgm:t>
        <a:bodyPr/>
        <a:lstStyle/>
        <a:p>
          <a:endParaRPr lang="en-SG"/>
        </a:p>
      </dgm:t>
    </dgm:pt>
    <dgm:pt modelId="{B592F4D5-E4F1-4F63-AB3B-9F5E13E25B99}" type="sibTrans" cxnId="{1ADD404B-D5C0-473B-94E8-9A88BE11CBD0}">
      <dgm:prSet/>
      <dgm:spPr/>
      <dgm:t>
        <a:bodyPr/>
        <a:lstStyle/>
        <a:p>
          <a:endParaRPr lang="en-SG"/>
        </a:p>
      </dgm:t>
    </dgm:pt>
    <dgm:pt modelId="{611D38ED-CEB5-4CB5-985F-C9798A104B00}">
      <dgm:prSet phldrT="[Text]"/>
      <dgm:spPr/>
      <dgm:t>
        <a:bodyPr/>
        <a:lstStyle/>
        <a:p>
          <a:r>
            <a:rPr lang="en-SG" dirty="0"/>
            <a:t>Mostly done</a:t>
          </a:r>
        </a:p>
      </dgm:t>
    </dgm:pt>
    <dgm:pt modelId="{A79BBA5F-AA38-4D95-9BCB-73EDC88C14AB}" type="parTrans" cxnId="{863F3DBE-69B1-4D96-AB01-D128F6094AB3}">
      <dgm:prSet/>
      <dgm:spPr/>
      <dgm:t>
        <a:bodyPr/>
        <a:lstStyle/>
        <a:p>
          <a:endParaRPr lang="en-SG"/>
        </a:p>
      </dgm:t>
    </dgm:pt>
    <dgm:pt modelId="{CBD5FE3C-FCC9-43F5-B777-850664974464}" type="sibTrans" cxnId="{863F3DBE-69B1-4D96-AB01-D128F6094AB3}">
      <dgm:prSet/>
      <dgm:spPr/>
      <dgm:t>
        <a:bodyPr/>
        <a:lstStyle/>
        <a:p>
          <a:endParaRPr lang="en-SG"/>
        </a:p>
      </dgm:t>
    </dgm:pt>
    <dgm:pt modelId="{0F48EB60-73EC-4269-A75E-92FC977EE1A7}">
      <dgm:prSet phldrT="[Text]"/>
      <dgm:spPr/>
      <dgm:t>
        <a:bodyPr/>
        <a:lstStyle/>
        <a:p>
          <a:r>
            <a:rPr lang="en-SG" dirty="0"/>
            <a:t>Testing</a:t>
          </a:r>
          <a:br>
            <a:rPr lang="en-SG" dirty="0"/>
          </a:br>
          <a:r>
            <a:rPr lang="en-SG" dirty="0"/>
            <a:t>Concepts</a:t>
          </a:r>
        </a:p>
      </dgm:t>
    </dgm:pt>
    <dgm:pt modelId="{567DBD72-496D-44C9-AD59-67165F142574}" type="parTrans" cxnId="{A6231C0E-E3A5-4150-B43C-A502D1FF6DA2}">
      <dgm:prSet/>
      <dgm:spPr/>
      <dgm:t>
        <a:bodyPr/>
        <a:lstStyle/>
        <a:p>
          <a:endParaRPr lang="en-SG"/>
        </a:p>
      </dgm:t>
    </dgm:pt>
    <dgm:pt modelId="{C59A1D78-048D-4500-84D4-16C59C1C8252}" type="sibTrans" cxnId="{A6231C0E-E3A5-4150-B43C-A502D1FF6DA2}">
      <dgm:prSet/>
      <dgm:spPr/>
      <dgm:t>
        <a:bodyPr/>
        <a:lstStyle/>
        <a:p>
          <a:endParaRPr lang="en-SG"/>
        </a:p>
      </dgm:t>
    </dgm:pt>
    <dgm:pt modelId="{982E8AE0-E6C2-4419-B279-3C4B9B4DD8CB}">
      <dgm:prSet phldrT="[Text]"/>
      <dgm:spPr/>
      <dgm:t>
        <a:bodyPr/>
        <a:lstStyle/>
        <a:p>
          <a:r>
            <a:rPr lang="en-SG" dirty="0"/>
            <a:t>Mostly Done</a:t>
          </a:r>
        </a:p>
      </dgm:t>
    </dgm:pt>
    <dgm:pt modelId="{82716AAE-FA72-4269-809F-FCF93253F08F}" type="parTrans" cxnId="{D330DDB6-978E-41C2-8BD5-AC277CEA64B3}">
      <dgm:prSet/>
      <dgm:spPr/>
      <dgm:t>
        <a:bodyPr/>
        <a:lstStyle/>
        <a:p>
          <a:endParaRPr lang="en-SG"/>
        </a:p>
      </dgm:t>
    </dgm:pt>
    <dgm:pt modelId="{CA3F8A09-4679-474D-87C1-B180E9FD93FE}" type="sibTrans" cxnId="{D330DDB6-978E-41C2-8BD5-AC277CEA64B3}">
      <dgm:prSet/>
      <dgm:spPr/>
      <dgm:t>
        <a:bodyPr/>
        <a:lstStyle/>
        <a:p>
          <a:endParaRPr lang="en-SG"/>
        </a:p>
      </dgm:t>
    </dgm:pt>
    <dgm:pt modelId="{79DCCAA7-21DD-4AA7-9226-CA2F1E3F9EDF}">
      <dgm:prSet phldrT="[Text]"/>
      <dgm:spPr/>
      <dgm:t>
        <a:bodyPr/>
        <a:lstStyle/>
        <a:p>
          <a:r>
            <a:rPr lang="en-SG" dirty="0"/>
            <a:t>Implementation</a:t>
          </a:r>
        </a:p>
      </dgm:t>
    </dgm:pt>
    <dgm:pt modelId="{07B858AE-B22A-4C69-8005-9015F4CE9FB9}" type="parTrans" cxnId="{893F74FB-F27F-4C71-8CA5-0EFC60E025A0}">
      <dgm:prSet/>
      <dgm:spPr/>
      <dgm:t>
        <a:bodyPr/>
        <a:lstStyle/>
        <a:p>
          <a:endParaRPr lang="en-SG"/>
        </a:p>
      </dgm:t>
    </dgm:pt>
    <dgm:pt modelId="{44CD919A-B229-4568-B0E9-93D9B4DE964C}" type="sibTrans" cxnId="{893F74FB-F27F-4C71-8CA5-0EFC60E025A0}">
      <dgm:prSet/>
      <dgm:spPr/>
      <dgm:t>
        <a:bodyPr/>
        <a:lstStyle/>
        <a:p>
          <a:endParaRPr lang="en-SG"/>
        </a:p>
      </dgm:t>
    </dgm:pt>
    <dgm:pt modelId="{5ACD5479-BDF1-4149-95E0-5FE9AB19E71B}">
      <dgm:prSet phldrT="[Text]"/>
      <dgm:spPr/>
      <dgm:t>
        <a:bodyPr/>
        <a:lstStyle/>
        <a:p>
          <a:r>
            <a:rPr lang="en-SG" dirty="0"/>
            <a:t>Halfway Done</a:t>
          </a:r>
        </a:p>
      </dgm:t>
    </dgm:pt>
    <dgm:pt modelId="{5EC650E8-67C9-417A-9A4F-A1783D5138F0}" type="parTrans" cxnId="{F2E4F101-F615-465A-A8B0-2754188D4C9F}">
      <dgm:prSet/>
      <dgm:spPr/>
      <dgm:t>
        <a:bodyPr/>
        <a:lstStyle/>
        <a:p>
          <a:endParaRPr lang="en-SG"/>
        </a:p>
      </dgm:t>
    </dgm:pt>
    <dgm:pt modelId="{081AB365-D4D5-4BB1-A0CC-448BAC59C707}" type="sibTrans" cxnId="{F2E4F101-F615-465A-A8B0-2754188D4C9F}">
      <dgm:prSet/>
      <dgm:spPr/>
      <dgm:t>
        <a:bodyPr/>
        <a:lstStyle/>
        <a:p>
          <a:endParaRPr lang="en-SG"/>
        </a:p>
      </dgm:t>
    </dgm:pt>
    <dgm:pt modelId="{FE2C9E70-73C3-4B61-A1E7-7CDAA5B842BA}">
      <dgm:prSet phldrT="[Text]"/>
      <dgm:spPr/>
      <dgm:t>
        <a:bodyPr/>
        <a:lstStyle/>
        <a:p>
          <a:r>
            <a:rPr lang="en-SG" dirty="0"/>
            <a:t>Production</a:t>
          </a:r>
        </a:p>
      </dgm:t>
    </dgm:pt>
    <dgm:pt modelId="{F36F65C2-012A-438D-9108-1206A3FF4C68}" type="parTrans" cxnId="{4D1FC16B-C291-4541-AC15-753DE0F4E6E4}">
      <dgm:prSet/>
      <dgm:spPr/>
      <dgm:t>
        <a:bodyPr/>
        <a:lstStyle/>
        <a:p>
          <a:endParaRPr lang="en-SG"/>
        </a:p>
      </dgm:t>
    </dgm:pt>
    <dgm:pt modelId="{6E10EA25-8960-48D5-98AA-6B4506DC7097}" type="sibTrans" cxnId="{4D1FC16B-C291-4541-AC15-753DE0F4E6E4}">
      <dgm:prSet/>
      <dgm:spPr/>
      <dgm:t>
        <a:bodyPr/>
        <a:lstStyle/>
        <a:p>
          <a:endParaRPr lang="en-SG"/>
        </a:p>
      </dgm:t>
    </dgm:pt>
    <dgm:pt modelId="{121E2364-98B6-44B8-9AE6-F57A60750C9D}">
      <dgm:prSet phldrT="[Text]"/>
      <dgm:spPr/>
      <dgm:t>
        <a:bodyPr/>
        <a:lstStyle/>
        <a:p>
          <a:pPr algn="l"/>
          <a:r>
            <a:rPr lang="en-SG" dirty="0"/>
            <a:t>Not started yet</a:t>
          </a:r>
        </a:p>
      </dgm:t>
    </dgm:pt>
    <dgm:pt modelId="{59DE3925-7010-431C-858F-F264CA56A648}" type="parTrans" cxnId="{15D4F5ED-2C8C-4965-A45C-67C539C182E6}">
      <dgm:prSet/>
      <dgm:spPr/>
      <dgm:t>
        <a:bodyPr/>
        <a:lstStyle/>
        <a:p>
          <a:endParaRPr lang="en-SG"/>
        </a:p>
      </dgm:t>
    </dgm:pt>
    <dgm:pt modelId="{8982882E-D66A-4252-BCFB-D55E89BEF7B6}" type="sibTrans" cxnId="{15D4F5ED-2C8C-4965-A45C-67C539C182E6}">
      <dgm:prSet/>
      <dgm:spPr/>
      <dgm:t>
        <a:bodyPr/>
        <a:lstStyle/>
        <a:p>
          <a:endParaRPr lang="en-SG"/>
        </a:p>
      </dgm:t>
    </dgm:pt>
    <dgm:pt modelId="{DCC2B368-B526-4674-9AFD-5CE0D314F09D}">
      <dgm:prSet phldrT="[Text]"/>
      <dgm:spPr/>
      <dgm:t>
        <a:bodyPr/>
        <a:lstStyle/>
        <a:p>
          <a:r>
            <a:rPr lang="en-SG" dirty="0"/>
            <a:t>We need to test parsing and DB RAM usage</a:t>
          </a:r>
        </a:p>
      </dgm:t>
    </dgm:pt>
    <dgm:pt modelId="{610401F8-02FB-4930-B8A9-55B3406778C2}" type="parTrans" cxnId="{4575F652-E2ED-45B2-B204-90A604AC2F5F}">
      <dgm:prSet/>
      <dgm:spPr/>
      <dgm:t>
        <a:bodyPr/>
        <a:lstStyle/>
        <a:p>
          <a:endParaRPr lang="en-SG"/>
        </a:p>
      </dgm:t>
    </dgm:pt>
    <dgm:pt modelId="{06F7288B-08A5-44D0-8294-DE212BFAAC11}" type="sibTrans" cxnId="{4575F652-E2ED-45B2-B204-90A604AC2F5F}">
      <dgm:prSet/>
      <dgm:spPr/>
      <dgm:t>
        <a:bodyPr/>
        <a:lstStyle/>
        <a:p>
          <a:endParaRPr lang="en-SG"/>
        </a:p>
      </dgm:t>
    </dgm:pt>
    <dgm:pt modelId="{6A01DABA-A1A2-4CD9-B2EC-D49CBA1A5302}" type="pres">
      <dgm:prSet presAssocID="{9ACF95ED-1A83-4F28-B618-DFC0258E3401}" presName="rootnode" presStyleCnt="0">
        <dgm:presLayoutVars>
          <dgm:chMax/>
          <dgm:chPref/>
          <dgm:dir/>
          <dgm:animLvl val="lvl"/>
        </dgm:presLayoutVars>
      </dgm:prSet>
      <dgm:spPr/>
    </dgm:pt>
    <dgm:pt modelId="{B97F03E5-3322-4E22-981E-D0ECAE074560}" type="pres">
      <dgm:prSet presAssocID="{133855F5-4AB6-47F6-A006-8CF3B5224983}" presName="composite" presStyleCnt="0"/>
      <dgm:spPr/>
    </dgm:pt>
    <dgm:pt modelId="{314E720C-5B43-45ED-AFEC-EF39F1626035}" type="pres">
      <dgm:prSet presAssocID="{133855F5-4AB6-47F6-A006-8CF3B5224983}" presName="bentUpArrow1" presStyleLbl="alignImgPlace1" presStyleIdx="0" presStyleCnt="3"/>
      <dgm:spPr/>
    </dgm:pt>
    <dgm:pt modelId="{04E9015F-4A3F-4AA5-97F5-E9548D7CEF56}" type="pres">
      <dgm:prSet presAssocID="{133855F5-4AB6-47F6-A006-8CF3B5224983}" presName="ParentText" presStyleLbl="node1" presStyleIdx="0" presStyleCnt="4">
        <dgm:presLayoutVars>
          <dgm:chMax val="1"/>
          <dgm:chPref val="1"/>
          <dgm:bulletEnabled val="1"/>
        </dgm:presLayoutVars>
      </dgm:prSet>
      <dgm:spPr/>
    </dgm:pt>
    <dgm:pt modelId="{32829251-977B-429B-AE9F-DCD5FAD85AEA}" type="pres">
      <dgm:prSet presAssocID="{133855F5-4AB6-47F6-A006-8CF3B5224983}" presName="ChildText" presStyleLbl="revTx" presStyleIdx="0" presStyleCnt="4">
        <dgm:presLayoutVars>
          <dgm:chMax val="0"/>
          <dgm:chPref val="0"/>
          <dgm:bulletEnabled val="1"/>
        </dgm:presLayoutVars>
      </dgm:prSet>
      <dgm:spPr/>
    </dgm:pt>
    <dgm:pt modelId="{B83A54D9-07A2-43F2-9EA7-7BE455072766}" type="pres">
      <dgm:prSet presAssocID="{B592F4D5-E4F1-4F63-AB3B-9F5E13E25B99}" presName="sibTrans" presStyleCnt="0"/>
      <dgm:spPr/>
    </dgm:pt>
    <dgm:pt modelId="{467320A4-D69A-40CD-97ED-4DE9885144AF}" type="pres">
      <dgm:prSet presAssocID="{0F48EB60-73EC-4269-A75E-92FC977EE1A7}" presName="composite" presStyleCnt="0"/>
      <dgm:spPr/>
    </dgm:pt>
    <dgm:pt modelId="{78CFD32E-F5F2-42D7-AE40-FAD7D03EB189}" type="pres">
      <dgm:prSet presAssocID="{0F48EB60-73EC-4269-A75E-92FC977EE1A7}" presName="bentUpArrow1" presStyleLbl="alignImgPlace1" presStyleIdx="1" presStyleCnt="3"/>
      <dgm:spPr/>
    </dgm:pt>
    <dgm:pt modelId="{37DA68FB-FB2E-4FFD-A982-1229BFB14EC3}" type="pres">
      <dgm:prSet presAssocID="{0F48EB60-73EC-4269-A75E-92FC977EE1A7}" presName="ParentText" presStyleLbl="node1" presStyleIdx="1" presStyleCnt="4">
        <dgm:presLayoutVars>
          <dgm:chMax val="1"/>
          <dgm:chPref val="1"/>
          <dgm:bulletEnabled val="1"/>
        </dgm:presLayoutVars>
      </dgm:prSet>
      <dgm:spPr/>
    </dgm:pt>
    <dgm:pt modelId="{A4900580-107B-423A-95CD-78686B36DA0E}" type="pres">
      <dgm:prSet presAssocID="{0F48EB60-73EC-4269-A75E-92FC977EE1A7}" presName="ChildText" presStyleLbl="revTx" presStyleIdx="1" presStyleCnt="4">
        <dgm:presLayoutVars>
          <dgm:chMax val="0"/>
          <dgm:chPref val="0"/>
          <dgm:bulletEnabled val="1"/>
        </dgm:presLayoutVars>
      </dgm:prSet>
      <dgm:spPr/>
    </dgm:pt>
    <dgm:pt modelId="{26CA0C59-8D7F-4236-AD72-79CE79550734}" type="pres">
      <dgm:prSet presAssocID="{C59A1D78-048D-4500-84D4-16C59C1C8252}" presName="sibTrans" presStyleCnt="0"/>
      <dgm:spPr/>
    </dgm:pt>
    <dgm:pt modelId="{ECE7C5C7-B269-4253-8D88-5E4650D3BFFF}" type="pres">
      <dgm:prSet presAssocID="{79DCCAA7-21DD-4AA7-9226-CA2F1E3F9EDF}" presName="composite" presStyleCnt="0"/>
      <dgm:spPr/>
    </dgm:pt>
    <dgm:pt modelId="{AB5BF229-E515-4758-BFB5-3EEDDC946206}" type="pres">
      <dgm:prSet presAssocID="{79DCCAA7-21DD-4AA7-9226-CA2F1E3F9EDF}" presName="bentUpArrow1" presStyleLbl="alignImgPlace1" presStyleIdx="2" presStyleCnt="3"/>
      <dgm:spPr/>
    </dgm:pt>
    <dgm:pt modelId="{1E66FA59-EAFE-4CE6-9715-6B0D6E919D74}" type="pres">
      <dgm:prSet presAssocID="{79DCCAA7-21DD-4AA7-9226-CA2F1E3F9EDF}" presName="ParentText" presStyleLbl="node1" presStyleIdx="2" presStyleCnt="4">
        <dgm:presLayoutVars>
          <dgm:chMax val="1"/>
          <dgm:chPref val="1"/>
          <dgm:bulletEnabled val="1"/>
        </dgm:presLayoutVars>
      </dgm:prSet>
      <dgm:spPr/>
    </dgm:pt>
    <dgm:pt modelId="{D6C17605-4223-43F1-8A06-FD1B136EF9AA}" type="pres">
      <dgm:prSet presAssocID="{79DCCAA7-21DD-4AA7-9226-CA2F1E3F9EDF}" presName="ChildText" presStyleLbl="revTx" presStyleIdx="2" presStyleCnt="4">
        <dgm:presLayoutVars>
          <dgm:chMax val="0"/>
          <dgm:chPref val="0"/>
          <dgm:bulletEnabled val="1"/>
        </dgm:presLayoutVars>
      </dgm:prSet>
      <dgm:spPr/>
    </dgm:pt>
    <dgm:pt modelId="{A4409230-4D98-4564-8104-AEA9496716D1}" type="pres">
      <dgm:prSet presAssocID="{44CD919A-B229-4568-B0E9-93D9B4DE964C}" presName="sibTrans" presStyleCnt="0"/>
      <dgm:spPr/>
    </dgm:pt>
    <dgm:pt modelId="{DF3610B2-FDDF-403A-8A93-0E88F32D6158}" type="pres">
      <dgm:prSet presAssocID="{FE2C9E70-73C3-4B61-A1E7-7CDAA5B842BA}" presName="composite" presStyleCnt="0"/>
      <dgm:spPr/>
    </dgm:pt>
    <dgm:pt modelId="{8B2AA6FD-4537-425E-ABA4-68F9D807C75E}" type="pres">
      <dgm:prSet presAssocID="{FE2C9E70-73C3-4B61-A1E7-7CDAA5B842BA}" presName="ParentText" presStyleLbl="node1" presStyleIdx="3" presStyleCnt="4">
        <dgm:presLayoutVars>
          <dgm:chMax val="1"/>
          <dgm:chPref val="1"/>
          <dgm:bulletEnabled val="1"/>
        </dgm:presLayoutVars>
      </dgm:prSet>
      <dgm:spPr/>
    </dgm:pt>
    <dgm:pt modelId="{18913296-20DB-4CA0-87D8-190BFD788857}" type="pres">
      <dgm:prSet presAssocID="{FE2C9E70-73C3-4B61-A1E7-7CDAA5B842BA}" presName="FinalChildText" presStyleLbl="revTx" presStyleIdx="3" presStyleCnt="4">
        <dgm:presLayoutVars>
          <dgm:chMax val="0"/>
          <dgm:chPref val="0"/>
          <dgm:bulletEnabled val="1"/>
        </dgm:presLayoutVars>
      </dgm:prSet>
      <dgm:spPr/>
    </dgm:pt>
  </dgm:ptLst>
  <dgm:cxnLst>
    <dgm:cxn modelId="{F2E4F101-F615-465A-A8B0-2754188D4C9F}" srcId="{79DCCAA7-21DD-4AA7-9226-CA2F1E3F9EDF}" destId="{5ACD5479-BDF1-4149-95E0-5FE9AB19E71B}" srcOrd="0" destOrd="0" parTransId="{5EC650E8-67C9-417A-9A4F-A1783D5138F0}" sibTransId="{081AB365-D4D5-4BB1-A0CC-448BAC59C707}"/>
    <dgm:cxn modelId="{858D2B03-CC01-4D4A-AC8C-D1FD7A66CAB1}" type="presOf" srcId="{5ACD5479-BDF1-4149-95E0-5FE9AB19E71B}" destId="{D6C17605-4223-43F1-8A06-FD1B136EF9AA}" srcOrd="0" destOrd="0" presId="urn:microsoft.com/office/officeart/2005/8/layout/StepDownProcess"/>
    <dgm:cxn modelId="{A6231C0E-E3A5-4150-B43C-A502D1FF6DA2}" srcId="{9ACF95ED-1A83-4F28-B618-DFC0258E3401}" destId="{0F48EB60-73EC-4269-A75E-92FC977EE1A7}" srcOrd="1" destOrd="0" parTransId="{567DBD72-496D-44C9-AD59-67165F142574}" sibTransId="{C59A1D78-048D-4500-84D4-16C59C1C8252}"/>
    <dgm:cxn modelId="{6F5CE113-1837-4CE8-BD63-A467B89ECDA1}" type="presOf" srcId="{0F48EB60-73EC-4269-A75E-92FC977EE1A7}" destId="{37DA68FB-FB2E-4FFD-A982-1229BFB14EC3}" srcOrd="0" destOrd="0" presId="urn:microsoft.com/office/officeart/2005/8/layout/StepDownProcess"/>
    <dgm:cxn modelId="{A2819560-BF50-40B3-BFCF-1AAE112C0A7A}" type="presOf" srcId="{FE2C9E70-73C3-4B61-A1E7-7CDAA5B842BA}" destId="{8B2AA6FD-4537-425E-ABA4-68F9D807C75E}" srcOrd="0" destOrd="0" presId="urn:microsoft.com/office/officeart/2005/8/layout/StepDownProcess"/>
    <dgm:cxn modelId="{E815CE64-3612-4934-98C1-6E56ECC86668}" type="presOf" srcId="{611D38ED-CEB5-4CB5-985F-C9798A104B00}" destId="{32829251-977B-429B-AE9F-DCD5FAD85AEA}" srcOrd="0" destOrd="0" presId="urn:microsoft.com/office/officeart/2005/8/layout/StepDownProcess"/>
    <dgm:cxn modelId="{1ADD404B-D5C0-473B-94E8-9A88BE11CBD0}" srcId="{9ACF95ED-1A83-4F28-B618-DFC0258E3401}" destId="{133855F5-4AB6-47F6-A006-8CF3B5224983}" srcOrd="0" destOrd="0" parTransId="{543B5809-ECDE-479F-976B-50B4F1196800}" sibTransId="{B592F4D5-E4F1-4F63-AB3B-9F5E13E25B99}"/>
    <dgm:cxn modelId="{4D1FC16B-C291-4541-AC15-753DE0F4E6E4}" srcId="{9ACF95ED-1A83-4F28-B618-DFC0258E3401}" destId="{FE2C9E70-73C3-4B61-A1E7-7CDAA5B842BA}" srcOrd="3" destOrd="0" parTransId="{F36F65C2-012A-438D-9108-1206A3FF4C68}" sibTransId="{6E10EA25-8960-48D5-98AA-6B4506DC7097}"/>
    <dgm:cxn modelId="{E1C4AE6E-B68E-4E06-AAA1-51C4C2921AE1}" type="presOf" srcId="{79DCCAA7-21DD-4AA7-9226-CA2F1E3F9EDF}" destId="{1E66FA59-EAFE-4CE6-9715-6B0D6E919D74}" srcOrd="0" destOrd="0" presId="urn:microsoft.com/office/officeart/2005/8/layout/StepDownProcess"/>
    <dgm:cxn modelId="{BD47F450-70A0-4915-87B2-6190C8EB51E1}" type="presOf" srcId="{982E8AE0-E6C2-4419-B279-3C4B9B4DD8CB}" destId="{A4900580-107B-423A-95CD-78686B36DA0E}" srcOrd="0" destOrd="0" presId="urn:microsoft.com/office/officeart/2005/8/layout/StepDownProcess"/>
    <dgm:cxn modelId="{4575F652-E2ED-45B2-B204-90A604AC2F5F}" srcId="{79DCCAA7-21DD-4AA7-9226-CA2F1E3F9EDF}" destId="{DCC2B368-B526-4674-9AFD-5CE0D314F09D}" srcOrd="1" destOrd="0" parTransId="{610401F8-02FB-4930-B8A9-55B3406778C2}" sibTransId="{06F7288B-08A5-44D0-8294-DE212BFAAC11}"/>
    <dgm:cxn modelId="{A996777B-58D9-4016-883C-EC0AF0D72370}" type="presOf" srcId="{121E2364-98B6-44B8-9AE6-F57A60750C9D}" destId="{18913296-20DB-4CA0-87D8-190BFD788857}" srcOrd="0" destOrd="0" presId="urn:microsoft.com/office/officeart/2005/8/layout/StepDownProcess"/>
    <dgm:cxn modelId="{BEF3528C-0998-4A81-91A1-0430663C8583}" type="presOf" srcId="{DCC2B368-B526-4674-9AFD-5CE0D314F09D}" destId="{D6C17605-4223-43F1-8A06-FD1B136EF9AA}" srcOrd="0" destOrd="1" presId="urn:microsoft.com/office/officeart/2005/8/layout/StepDownProcess"/>
    <dgm:cxn modelId="{D330DDB6-978E-41C2-8BD5-AC277CEA64B3}" srcId="{0F48EB60-73EC-4269-A75E-92FC977EE1A7}" destId="{982E8AE0-E6C2-4419-B279-3C4B9B4DD8CB}" srcOrd="0" destOrd="0" parTransId="{82716AAE-FA72-4269-809F-FCF93253F08F}" sibTransId="{CA3F8A09-4679-474D-87C1-B180E9FD93FE}"/>
    <dgm:cxn modelId="{863F3DBE-69B1-4D96-AB01-D128F6094AB3}" srcId="{133855F5-4AB6-47F6-A006-8CF3B5224983}" destId="{611D38ED-CEB5-4CB5-985F-C9798A104B00}" srcOrd="0" destOrd="0" parTransId="{A79BBA5F-AA38-4D95-9BCB-73EDC88C14AB}" sibTransId="{CBD5FE3C-FCC9-43F5-B777-850664974464}"/>
    <dgm:cxn modelId="{2BAA9CC4-1C81-49D4-B192-F06CC09EC233}" type="presOf" srcId="{9ACF95ED-1A83-4F28-B618-DFC0258E3401}" destId="{6A01DABA-A1A2-4CD9-B2EC-D49CBA1A5302}" srcOrd="0" destOrd="0" presId="urn:microsoft.com/office/officeart/2005/8/layout/StepDownProcess"/>
    <dgm:cxn modelId="{A3BEF1EA-722A-4859-A539-F16B22DF60FC}" type="presOf" srcId="{133855F5-4AB6-47F6-A006-8CF3B5224983}" destId="{04E9015F-4A3F-4AA5-97F5-E9548D7CEF56}" srcOrd="0" destOrd="0" presId="urn:microsoft.com/office/officeart/2005/8/layout/StepDownProcess"/>
    <dgm:cxn modelId="{15D4F5ED-2C8C-4965-A45C-67C539C182E6}" srcId="{FE2C9E70-73C3-4B61-A1E7-7CDAA5B842BA}" destId="{121E2364-98B6-44B8-9AE6-F57A60750C9D}" srcOrd="0" destOrd="0" parTransId="{59DE3925-7010-431C-858F-F264CA56A648}" sibTransId="{8982882E-D66A-4252-BCFB-D55E89BEF7B6}"/>
    <dgm:cxn modelId="{893F74FB-F27F-4C71-8CA5-0EFC60E025A0}" srcId="{9ACF95ED-1A83-4F28-B618-DFC0258E3401}" destId="{79DCCAA7-21DD-4AA7-9226-CA2F1E3F9EDF}" srcOrd="2" destOrd="0" parTransId="{07B858AE-B22A-4C69-8005-9015F4CE9FB9}" sibTransId="{44CD919A-B229-4568-B0E9-93D9B4DE964C}"/>
    <dgm:cxn modelId="{CF4C9201-BE07-4554-936C-67E0616367BE}" type="presParOf" srcId="{6A01DABA-A1A2-4CD9-B2EC-D49CBA1A5302}" destId="{B97F03E5-3322-4E22-981E-D0ECAE074560}" srcOrd="0" destOrd="0" presId="urn:microsoft.com/office/officeart/2005/8/layout/StepDownProcess"/>
    <dgm:cxn modelId="{B0FC6F54-A34A-4CF2-BA2B-81C8F1673F7E}" type="presParOf" srcId="{B97F03E5-3322-4E22-981E-D0ECAE074560}" destId="{314E720C-5B43-45ED-AFEC-EF39F1626035}" srcOrd="0" destOrd="0" presId="urn:microsoft.com/office/officeart/2005/8/layout/StepDownProcess"/>
    <dgm:cxn modelId="{2CC23388-D38E-44FF-860B-287321A5AB40}" type="presParOf" srcId="{B97F03E5-3322-4E22-981E-D0ECAE074560}" destId="{04E9015F-4A3F-4AA5-97F5-E9548D7CEF56}" srcOrd="1" destOrd="0" presId="urn:microsoft.com/office/officeart/2005/8/layout/StepDownProcess"/>
    <dgm:cxn modelId="{9C4D8360-1925-4CDF-9BA2-D7852E404B0D}" type="presParOf" srcId="{B97F03E5-3322-4E22-981E-D0ECAE074560}" destId="{32829251-977B-429B-AE9F-DCD5FAD85AEA}" srcOrd="2" destOrd="0" presId="urn:microsoft.com/office/officeart/2005/8/layout/StepDownProcess"/>
    <dgm:cxn modelId="{CE197E94-3337-4552-9729-ABBBEFAAEC90}" type="presParOf" srcId="{6A01DABA-A1A2-4CD9-B2EC-D49CBA1A5302}" destId="{B83A54D9-07A2-43F2-9EA7-7BE455072766}" srcOrd="1" destOrd="0" presId="urn:microsoft.com/office/officeart/2005/8/layout/StepDownProcess"/>
    <dgm:cxn modelId="{3211CB61-6536-4A0E-B55D-8F0F30FEDA5C}" type="presParOf" srcId="{6A01DABA-A1A2-4CD9-B2EC-D49CBA1A5302}" destId="{467320A4-D69A-40CD-97ED-4DE9885144AF}" srcOrd="2" destOrd="0" presId="urn:microsoft.com/office/officeart/2005/8/layout/StepDownProcess"/>
    <dgm:cxn modelId="{88B41972-1CE7-42CE-AAC2-03E4D1415399}" type="presParOf" srcId="{467320A4-D69A-40CD-97ED-4DE9885144AF}" destId="{78CFD32E-F5F2-42D7-AE40-FAD7D03EB189}" srcOrd="0" destOrd="0" presId="urn:microsoft.com/office/officeart/2005/8/layout/StepDownProcess"/>
    <dgm:cxn modelId="{2CA4F10A-4F31-4ACB-9088-901651B5B585}" type="presParOf" srcId="{467320A4-D69A-40CD-97ED-4DE9885144AF}" destId="{37DA68FB-FB2E-4FFD-A982-1229BFB14EC3}" srcOrd="1" destOrd="0" presId="urn:microsoft.com/office/officeart/2005/8/layout/StepDownProcess"/>
    <dgm:cxn modelId="{777E6C29-A843-41DF-82D8-F16DDE1864A1}" type="presParOf" srcId="{467320A4-D69A-40CD-97ED-4DE9885144AF}" destId="{A4900580-107B-423A-95CD-78686B36DA0E}" srcOrd="2" destOrd="0" presId="urn:microsoft.com/office/officeart/2005/8/layout/StepDownProcess"/>
    <dgm:cxn modelId="{4C6DDBBD-397C-4BBE-90A2-49C07232F81A}" type="presParOf" srcId="{6A01DABA-A1A2-4CD9-B2EC-D49CBA1A5302}" destId="{26CA0C59-8D7F-4236-AD72-79CE79550734}" srcOrd="3" destOrd="0" presId="urn:microsoft.com/office/officeart/2005/8/layout/StepDownProcess"/>
    <dgm:cxn modelId="{0557CDDC-80CE-4AAC-BDD9-D3270B8A855C}" type="presParOf" srcId="{6A01DABA-A1A2-4CD9-B2EC-D49CBA1A5302}" destId="{ECE7C5C7-B269-4253-8D88-5E4650D3BFFF}" srcOrd="4" destOrd="0" presId="urn:microsoft.com/office/officeart/2005/8/layout/StepDownProcess"/>
    <dgm:cxn modelId="{B86C4FB0-CDB8-42D3-9EC0-3EAB2C13B320}" type="presParOf" srcId="{ECE7C5C7-B269-4253-8D88-5E4650D3BFFF}" destId="{AB5BF229-E515-4758-BFB5-3EEDDC946206}" srcOrd="0" destOrd="0" presId="urn:microsoft.com/office/officeart/2005/8/layout/StepDownProcess"/>
    <dgm:cxn modelId="{D111394D-8B08-43FB-BDBE-8BF9D702E0A2}" type="presParOf" srcId="{ECE7C5C7-B269-4253-8D88-5E4650D3BFFF}" destId="{1E66FA59-EAFE-4CE6-9715-6B0D6E919D74}" srcOrd="1" destOrd="0" presId="urn:microsoft.com/office/officeart/2005/8/layout/StepDownProcess"/>
    <dgm:cxn modelId="{2B45028F-2DBB-4921-8BFC-726BB6681806}" type="presParOf" srcId="{ECE7C5C7-B269-4253-8D88-5E4650D3BFFF}" destId="{D6C17605-4223-43F1-8A06-FD1B136EF9AA}" srcOrd="2" destOrd="0" presId="urn:microsoft.com/office/officeart/2005/8/layout/StepDownProcess"/>
    <dgm:cxn modelId="{D27E57A3-7519-4F3D-979A-1AD0D0270362}" type="presParOf" srcId="{6A01DABA-A1A2-4CD9-B2EC-D49CBA1A5302}" destId="{A4409230-4D98-4564-8104-AEA9496716D1}" srcOrd="5" destOrd="0" presId="urn:microsoft.com/office/officeart/2005/8/layout/StepDownProcess"/>
    <dgm:cxn modelId="{E212AD31-0417-4644-987B-41AA835175E3}" type="presParOf" srcId="{6A01DABA-A1A2-4CD9-B2EC-D49CBA1A5302}" destId="{DF3610B2-FDDF-403A-8A93-0E88F32D6158}" srcOrd="6" destOrd="0" presId="urn:microsoft.com/office/officeart/2005/8/layout/StepDownProcess"/>
    <dgm:cxn modelId="{CDA55889-7FBB-4783-8DDB-7510B41EDEDC}" type="presParOf" srcId="{DF3610B2-FDDF-403A-8A93-0E88F32D6158}" destId="{8B2AA6FD-4537-425E-ABA4-68F9D807C75E}" srcOrd="0" destOrd="0" presId="urn:microsoft.com/office/officeart/2005/8/layout/StepDownProcess"/>
    <dgm:cxn modelId="{2F243068-4EB0-4877-8E35-737840DABFB3}" type="presParOf" srcId="{DF3610B2-FDDF-403A-8A93-0E88F32D6158}" destId="{18913296-20DB-4CA0-87D8-190BFD788857}"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AB29A7-9844-4B44-AFB4-EFB5044D15D3}" type="doc">
      <dgm:prSet loTypeId="urn:microsoft.com/office/officeart/2005/8/layout/process1" loCatId="process" qsTypeId="urn:microsoft.com/office/officeart/2005/8/quickstyle/simple1" qsCatId="simple" csTypeId="urn:microsoft.com/office/officeart/2005/8/colors/accent1_2" csCatId="accent1" phldr="1"/>
      <dgm:spPr/>
    </dgm:pt>
    <dgm:pt modelId="{E9D64F20-8C63-497B-AD25-A4D4F73CB347}">
      <dgm:prSet phldrT="[Text]"/>
      <dgm:spPr/>
      <dgm:t>
        <a:bodyPr/>
        <a:lstStyle/>
        <a:p>
          <a:r>
            <a:rPr lang="en-SG" dirty="0"/>
            <a:t>Jan 25:</a:t>
          </a:r>
        </a:p>
      </dgm:t>
    </dgm:pt>
    <dgm:pt modelId="{F8C3061C-E299-4D77-B1B6-849B8A7996FF}" type="parTrans" cxnId="{E2D05A2A-85BF-453A-BF10-A2FD063E0291}">
      <dgm:prSet/>
      <dgm:spPr/>
      <dgm:t>
        <a:bodyPr/>
        <a:lstStyle/>
        <a:p>
          <a:endParaRPr lang="en-SG"/>
        </a:p>
      </dgm:t>
    </dgm:pt>
    <dgm:pt modelId="{DC5A0C8E-01B2-410E-A08A-70B9AE74CA86}" type="sibTrans" cxnId="{E2D05A2A-85BF-453A-BF10-A2FD063E0291}">
      <dgm:prSet/>
      <dgm:spPr/>
      <dgm:t>
        <a:bodyPr/>
        <a:lstStyle/>
        <a:p>
          <a:endParaRPr lang="en-SG"/>
        </a:p>
      </dgm:t>
    </dgm:pt>
    <dgm:pt modelId="{9518EBBA-E947-4A2B-8C3A-850B53C096F6}">
      <dgm:prSet phldrT="[Text]"/>
      <dgm:spPr/>
      <dgm:t>
        <a:bodyPr/>
        <a:lstStyle/>
        <a:p>
          <a:r>
            <a:rPr lang="en-SG" dirty="0"/>
            <a:t>Feb 25:</a:t>
          </a:r>
        </a:p>
      </dgm:t>
    </dgm:pt>
    <dgm:pt modelId="{A9488CF4-22A3-45E0-9469-1FF4C79EB6B0}" type="parTrans" cxnId="{22D7AEC9-D559-443E-B43F-F8E2FAC57E74}">
      <dgm:prSet/>
      <dgm:spPr/>
      <dgm:t>
        <a:bodyPr/>
        <a:lstStyle/>
        <a:p>
          <a:endParaRPr lang="en-SG"/>
        </a:p>
      </dgm:t>
    </dgm:pt>
    <dgm:pt modelId="{5E235423-E97D-4DFB-AC79-EAB75FB10991}" type="sibTrans" cxnId="{22D7AEC9-D559-443E-B43F-F8E2FAC57E74}">
      <dgm:prSet/>
      <dgm:spPr/>
      <dgm:t>
        <a:bodyPr/>
        <a:lstStyle/>
        <a:p>
          <a:endParaRPr lang="en-SG"/>
        </a:p>
      </dgm:t>
    </dgm:pt>
    <dgm:pt modelId="{EAA13E30-180F-4DD6-BB62-D92A4B858BCE}">
      <dgm:prSet phldrT="[Text]"/>
      <dgm:spPr/>
      <dgm:t>
        <a:bodyPr/>
        <a:lstStyle/>
        <a:p>
          <a:r>
            <a:rPr lang="en-SG" dirty="0"/>
            <a:t>Mar 25:</a:t>
          </a:r>
        </a:p>
      </dgm:t>
    </dgm:pt>
    <dgm:pt modelId="{48B795C8-127A-427A-A258-CFA4BC93AD16}" type="parTrans" cxnId="{838471E0-F1A9-4BAA-A96D-6E1B9993CD8E}">
      <dgm:prSet/>
      <dgm:spPr/>
      <dgm:t>
        <a:bodyPr/>
        <a:lstStyle/>
        <a:p>
          <a:endParaRPr lang="en-SG"/>
        </a:p>
      </dgm:t>
    </dgm:pt>
    <dgm:pt modelId="{E62E3A4E-C895-4B0C-BC4A-8C175E69C37D}" type="sibTrans" cxnId="{838471E0-F1A9-4BAA-A96D-6E1B9993CD8E}">
      <dgm:prSet/>
      <dgm:spPr/>
      <dgm:t>
        <a:bodyPr/>
        <a:lstStyle/>
        <a:p>
          <a:endParaRPr lang="en-SG"/>
        </a:p>
      </dgm:t>
    </dgm:pt>
    <dgm:pt modelId="{B75B67BA-4B29-477B-9B59-888AD49A01F2}">
      <dgm:prSet phldrT="[Text]"/>
      <dgm:spPr/>
      <dgm:t>
        <a:bodyPr/>
        <a:lstStyle/>
        <a:p>
          <a:r>
            <a:rPr lang="en-SG" dirty="0"/>
            <a:t>Cleanup of repository</a:t>
          </a:r>
        </a:p>
      </dgm:t>
    </dgm:pt>
    <dgm:pt modelId="{ACBFA104-CBEF-4B70-82DC-3C83AF78D9A0}" type="parTrans" cxnId="{F57D9CA3-059A-43FE-ADFE-9D5A4F9A9448}">
      <dgm:prSet/>
      <dgm:spPr/>
      <dgm:t>
        <a:bodyPr/>
        <a:lstStyle/>
        <a:p>
          <a:endParaRPr lang="en-SG"/>
        </a:p>
      </dgm:t>
    </dgm:pt>
    <dgm:pt modelId="{87739BD6-0239-4E80-BBBF-AAAF452AB850}" type="sibTrans" cxnId="{F57D9CA3-059A-43FE-ADFE-9D5A4F9A9448}">
      <dgm:prSet/>
      <dgm:spPr/>
      <dgm:t>
        <a:bodyPr/>
        <a:lstStyle/>
        <a:p>
          <a:endParaRPr lang="en-SG"/>
        </a:p>
      </dgm:t>
    </dgm:pt>
    <dgm:pt modelId="{9B482732-613D-44B2-AD48-997216991603}">
      <dgm:prSet phldrT="[Text]"/>
      <dgm:spPr/>
      <dgm:t>
        <a:bodyPr/>
        <a:lstStyle/>
        <a:p>
          <a:r>
            <a:rPr lang="en-SG" dirty="0"/>
            <a:t>Production for 1:1 analysis</a:t>
          </a:r>
        </a:p>
      </dgm:t>
    </dgm:pt>
    <dgm:pt modelId="{CA2B4AF7-06F6-4F6A-BEAB-70DBD6951ED1}" type="parTrans" cxnId="{A3AEC612-A6B1-46A7-9098-043E8C4B969C}">
      <dgm:prSet/>
      <dgm:spPr/>
      <dgm:t>
        <a:bodyPr/>
        <a:lstStyle/>
        <a:p>
          <a:endParaRPr lang="en-SG"/>
        </a:p>
      </dgm:t>
    </dgm:pt>
    <dgm:pt modelId="{1BDD4C41-C9EB-48F0-AA21-A83E2884CF7B}" type="sibTrans" cxnId="{A3AEC612-A6B1-46A7-9098-043E8C4B969C}">
      <dgm:prSet/>
      <dgm:spPr/>
      <dgm:t>
        <a:bodyPr/>
        <a:lstStyle/>
        <a:p>
          <a:endParaRPr lang="en-SG"/>
        </a:p>
      </dgm:t>
    </dgm:pt>
    <dgm:pt modelId="{A0143F7E-B5D7-408A-ADC2-ECAF1976DFCE}">
      <dgm:prSet phldrT="[Text]"/>
      <dgm:spPr/>
      <dgm:t>
        <a:bodyPr/>
        <a:lstStyle/>
        <a:p>
          <a:r>
            <a:rPr lang="en-SG" dirty="0"/>
            <a:t>Implementation and testing</a:t>
          </a:r>
        </a:p>
      </dgm:t>
    </dgm:pt>
    <dgm:pt modelId="{BD18D7A4-2696-44BA-996D-4B74C69A3DBC}" type="parTrans" cxnId="{29B704E1-C00F-4370-B203-BF3543A5C806}">
      <dgm:prSet/>
      <dgm:spPr/>
      <dgm:t>
        <a:bodyPr/>
        <a:lstStyle/>
        <a:p>
          <a:endParaRPr lang="en-SG"/>
        </a:p>
      </dgm:t>
    </dgm:pt>
    <dgm:pt modelId="{BDB45F63-8A0F-4B6B-9C69-7C9F1190AA63}" type="sibTrans" cxnId="{29B704E1-C00F-4370-B203-BF3543A5C806}">
      <dgm:prSet/>
      <dgm:spPr/>
      <dgm:t>
        <a:bodyPr/>
        <a:lstStyle/>
        <a:p>
          <a:endParaRPr lang="en-SG"/>
        </a:p>
      </dgm:t>
    </dgm:pt>
    <dgm:pt modelId="{0AA86C38-E6B7-409A-8D72-8F565E9D190E}">
      <dgm:prSet phldrT="[Text]"/>
      <dgm:spPr/>
      <dgm:t>
        <a:bodyPr/>
        <a:lstStyle/>
        <a:p>
          <a:r>
            <a:rPr lang="en-SG" dirty="0"/>
            <a:t>Apr 25:</a:t>
          </a:r>
        </a:p>
      </dgm:t>
    </dgm:pt>
    <dgm:pt modelId="{E8B38376-22AC-4D6C-872D-817AE1609983}" type="parTrans" cxnId="{E06EB93D-6258-4C36-A56B-064CA89FCA5D}">
      <dgm:prSet/>
      <dgm:spPr/>
      <dgm:t>
        <a:bodyPr/>
        <a:lstStyle/>
        <a:p>
          <a:endParaRPr lang="en-SG"/>
        </a:p>
      </dgm:t>
    </dgm:pt>
    <dgm:pt modelId="{0A9259DD-E20B-430C-953B-5657BA7C0FE0}" type="sibTrans" cxnId="{E06EB93D-6258-4C36-A56B-064CA89FCA5D}">
      <dgm:prSet/>
      <dgm:spPr/>
      <dgm:t>
        <a:bodyPr/>
        <a:lstStyle/>
        <a:p>
          <a:endParaRPr lang="en-SG"/>
        </a:p>
      </dgm:t>
    </dgm:pt>
    <dgm:pt modelId="{E68A0392-F563-46A4-92E1-4F738D31C2AD}">
      <dgm:prSet phldrT="[Text]"/>
      <dgm:spPr/>
      <dgm:t>
        <a:bodyPr/>
        <a:lstStyle/>
        <a:p>
          <a:r>
            <a:rPr lang="en-SG" dirty="0"/>
            <a:t>Data Migration and Matching 2</a:t>
          </a:r>
        </a:p>
      </dgm:t>
    </dgm:pt>
    <dgm:pt modelId="{51B125C5-A209-465B-97B4-56FD4728C29E}" type="parTrans" cxnId="{8794E6DB-59E5-4F75-A224-6EC73C17139F}">
      <dgm:prSet/>
      <dgm:spPr/>
      <dgm:t>
        <a:bodyPr/>
        <a:lstStyle/>
        <a:p>
          <a:endParaRPr lang="en-SG"/>
        </a:p>
      </dgm:t>
    </dgm:pt>
    <dgm:pt modelId="{DB5E75F1-B220-4E4D-9ECC-BDB07730621A}" type="sibTrans" cxnId="{8794E6DB-59E5-4F75-A224-6EC73C17139F}">
      <dgm:prSet/>
      <dgm:spPr/>
      <dgm:t>
        <a:bodyPr/>
        <a:lstStyle/>
        <a:p>
          <a:endParaRPr lang="en-SG"/>
        </a:p>
      </dgm:t>
    </dgm:pt>
    <dgm:pt modelId="{AF341657-2084-4932-9D74-E61550DC815B}">
      <dgm:prSet phldrT="[Text]"/>
      <dgm:spPr/>
      <dgm:t>
        <a:bodyPr/>
        <a:lstStyle/>
        <a:p>
          <a:r>
            <a:rPr lang="en-SG" dirty="0"/>
            <a:t>Data Migration and Matching 1</a:t>
          </a:r>
        </a:p>
      </dgm:t>
    </dgm:pt>
    <dgm:pt modelId="{84571C6E-7226-4118-AE28-80F8D8DC5A57}" type="parTrans" cxnId="{2E4556FF-73D5-4A6B-B3DE-0AD54BEB84D0}">
      <dgm:prSet/>
      <dgm:spPr/>
      <dgm:t>
        <a:bodyPr/>
        <a:lstStyle/>
        <a:p>
          <a:endParaRPr lang="en-SG"/>
        </a:p>
      </dgm:t>
    </dgm:pt>
    <dgm:pt modelId="{CB8C4690-566A-4FD2-B510-94B82786B2DE}" type="sibTrans" cxnId="{2E4556FF-73D5-4A6B-B3DE-0AD54BEB84D0}">
      <dgm:prSet/>
      <dgm:spPr/>
      <dgm:t>
        <a:bodyPr/>
        <a:lstStyle/>
        <a:p>
          <a:endParaRPr lang="en-SG"/>
        </a:p>
      </dgm:t>
    </dgm:pt>
    <dgm:pt modelId="{C0826F5C-29E7-4561-A094-1C95C7604219}" type="pres">
      <dgm:prSet presAssocID="{E1AB29A7-9844-4B44-AFB4-EFB5044D15D3}" presName="Name0" presStyleCnt="0">
        <dgm:presLayoutVars>
          <dgm:dir/>
          <dgm:resizeHandles val="exact"/>
        </dgm:presLayoutVars>
      </dgm:prSet>
      <dgm:spPr/>
    </dgm:pt>
    <dgm:pt modelId="{ADAB008F-123B-4C02-A8D2-87C03DBEC283}" type="pres">
      <dgm:prSet presAssocID="{E9D64F20-8C63-497B-AD25-A4D4F73CB347}" presName="node" presStyleLbl="node1" presStyleIdx="0" presStyleCnt="4">
        <dgm:presLayoutVars>
          <dgm:bulletEnabled val="1"/>
        </dgm:presLayoutVars>
      </dgm:prSet>
      <dgm:spPr/>
    </dgm:pt>
    <dgm:pt modelId="{6631B14D-497E-4EA4-92A4-DFC38C58D410}" type="pres">
      <dgm:prSet presAssocID="{DC5A0C8E-01B2-410E-A08A-70B9AE74CA86}" presName="sibTrans" presStyleLbl="sibTrans2D1" presStyleIdx="0" presStyleCnt="3"/>
      <dgm:spPr/>
    </dgm:pt>
    <dgm:pt modelId="{46DE6E36-77F3-4A38-AA15-B612AB20E2EF}" type="pres">
      <dgm:prSet presAssocID="{DC5A0C8E-01B2-410E-A08A-70B9AE74CA86}" presName="connectorText" presStyleLbl="sibTrans2D1" presStyleIdx="0" presStyleCnt="3"/>
      <dgm:spPr/>
    </dgm:pt>
    <dgm:pt modelId="{AF1DF51C-DAF7-40F7-A1FA-F35D46B96108}" type="pres">
      <dgm:prSet presAssocID="{9518EBBA-E947-4A2B-8C3A-850B53C096F6}" presName="node" presStyleLbl="node1" presStyleIdx="1" presStyleCnt="4">
        <dgm:presLayoutVars>
          <dgm:bulletEnabled val="1"/>
        </dgm:presLayoutVars>
      </dgm:prSet>
      <dgm:spPr/>
    </dgm:pt>
    <dgm:pt modelId="{D585D83D-A54E-41F1-A48F-6566FE459D2E}" type="pres">
      <dgm:prSet presAssocID="{5E235423-E97D-4DFB-AC79-EAB75FB10991}" presName="sibTrans" presStyleLbl="sibTrans2D1" presStyleIdx="1" presStyleCnt="3"/>
      <dgm:spPr/>
    </dgm:pt>
    <dgm:pt modelId="{ED4E0B20-6141-45C9-814B-273D8360D820}" type="pres">
      <dgm:prSet presAssocID="{5E235423-E97D-4DFB-AC79-EAB75FB10991}" presName="connectorText" presStyleLbl="sibTrans2D1" presStyleIdx="1" presStyleCnt="3"/>
      <dgm:spPr/>
    </dgm:pt>
    <dgm:pt modelId="{1079CD88-B143-4476-861F-14FACA3C86A2}" type="pres">
      <dgm:prSet presAssocID="{EAA13E30-180F-4DD6-BB62-D92A4B858BCE}" presName="node" presStyleLbl="node1" presStyleIdx="2" presStyleCnt="4">
        <dgm:presLayoutVars>
          <dgm:bulletEnabled val="1"/>
        </dgm:presLayoutVars>
      </dgm:prSet>
      <dgm:spPr/>
    </dgm:pt>
    <dgm:pt modelId="{89D27FD6-0237-439E-8A00-1841ECB7721C}" type="pres">
      <dgm:prSet presAssocID="{E62E3A4E-C895-4B0C-BC4A-8C175E69C37D}" presName="sibTrans" presStyleLbl="sibTrans2D1" presStyleIdx="2" presStyleCnt="3"/>
      <dgm:spPr/>
    </dgm:pt>
    <dgm:pt modelId="{B6647190-5D89-4E22-9777-94EF1398741E}" type="pres">
      <dgm:prSet presAssocID="{E62E3A4E-C895-4B0C-BC4A-8C175E69C37D}" presName="connectorText" presStyleLbl="sibTrans2D1" presStyleIdx="2" presStyleCnt="3"/>
      <dgm:spPr/>
    </dgm:pt>
    <dgm:pt modelId="{24D20DE6-6F64-41EE-9D84-7FD885D68E00}" type="pres">
      <dgm:prSet presAssocID="{0AA86C38-E6B7-409A-8D72-8F565E9D190E}" presName="node" presStyleLbl="node1" presStyleIdx="3" presStyleCnt="4">
        <dgm:presLayoutVars>
          <dgm:bulletEnabled val="1"/>
        </dgm:presLayoutVars>
      </dgm:prSet>
      <dgm:spPr/>
    </dgm:pt>
  </dgm:ptLst>
  <dgm:cxnLst>
    <dgm:cxn modelId="{7BD17912-F611-4887-8223-A37975CC11F5}" type="presOf" srcId="{9B482732-613D-44B2-AD48-997216991603}" destId="{1079CD88-B143-4476-861F-14FACA3C86A2}" srcOrd="0" destOrd="1" presId="urn:microsoft.com/office/officeart/2005/8/layout/process1"/>
    <dgm:cxn modelId="{A3AEC612-A6B1-46A7-9098-043E8C4B969C}" srcId="{EAA13E30-180F-4DD6-BB62-D92A4B858BCE}" destId="{9B482732-613D-44B2-AD48-997216991603}" srcOrd="0" destOrd="0" parTransId="{CA2B4AF7-06F6-4F6A-BEAB-70DBD6951ED1}" sibTransId="{1BDD4C41-C9EB-48F0-AA21-A83E2884CF7B}"/>
    <dgm:cxn modelId="{16044220-AA9D-4227-98A2-A65045420669}" type="presOf" srcId="{DC5A0C8E-01B2-410E-A08A-70B9AE74CA86}" destId="{46DE6E36-77F3-4A38-AA15-B612AB20E2EF}" srcOrd="1" destOrd="0" presId="urn:microsoft.com/office/officeart/2005/8/layout/process1"/>
    <dgm:cxn modelId="{45FCC329-B297-402C-A5ED-3B924818C6AC}" type="presOf" srcId="{B75B67BA-4B29-477B-9B59-888AD49A01F2}" destId="{ADAB008F-123B-4C02-A8D2-87C03DBEC283}" srcOrd="0" destOrd="1" presId="urn:microsoft.com/office/officeart/2005/8/layout/process1"/>
    <dgm:cxn modelId="{E2D05A2A-85BF-453A-BF10-A2FD063E0291}" srcId="{E1AB29A7-9844-4B44-AFB4-EFB5044D15D3}" destId="{E9D64F20-8C63-497B-AD25-A4D4F73CB347}" srcOrd="0" destOrd="0" parTransId="{F8C3061C-E299-4D77-B1B6-849B8A7996FF}" sibTransId="{DC5A0C8E-01B2-410E-A08A-70B9AE74CA86}"/>
    <dgm:cxn modelId="{ABBF1031-66BF-4D65-83D5-23DD808AD562}" type="presOf" srcId="{E62E3A4E-C895-4B0C-BC4A-8C175E69C37D}" destId="{B6647190-5D89-4E22-9777-94EF1398741E}" srcOrd="1" destOrd="0" presId="urn:microsoft.com/office/officeart/2005/8/layout/process1"/>
    <dgm:cxn modelId="{E06EB93D-6258-4C36-A56B-064CA89FCA5D}" srcId="{E1AB29A7-9844-4B44-AFB4-EFB5044D15D3}" destId="{0AA86C38-E6B7-409A-8D72-8F565E9D190E}" srcOrd="3" destOrd="0" parTransId="{E8B38376-22AC-4D6C-872D-817AE1609983}" sibTransId="{0A9259DD-E20B-430C-953B-5657BA7C0FE0}"/>
    <dgm:cxn modelId="{BF66A45E-B576-475C-AB9E-AE89840CF35E}" type="presOf" srcId="{EAA13E30-180F-4DD6-BB62-D92A4B858BCE}" destId="{1079CD88-B143-4476-861F-14FACA3C86A2}" srcOrd="0" destOrd="0" presId="urn:microsoft.com/office/officeart/2005/8/layout/process1"/>
    <dgm:cxn modelId="{F7495C6F-3156-4CB1-9330-57CE2F7DF9E5}" type="presOf" srcId="{9518EBBA-E947-4A2B-8C3A-850B53C096F6}" destId="{AF1DF51C-DAF7-40F7-A1FA-F35D46B96108}" srcOrd="0" destOrd="0" presId="urn:microsoft.com/office/officeart/2005/8/layout/process1"/>
    <dgm:cxn modelId="{6FB97550-86BB-4144-B45C-9088D851E93C}" type="presOf" srcId="{E1AB29A7-9844-4B44-AFB4-EFB5044D15D3}" destId="{C0826F5C-29E7-4561-A094-1C95C7604219}" srcOrd="0" destOrd="0" presId="urn:microsoft.com/office/officeart/2005/8/layout/process1"/>
    <dgm:cxn modelId="{7FC56259-1590-4568-AFBF-357EDA903151}" type="presOf" srcId="{5E235423-E97D-4DFB-AC79-EAB75FB10991}" destId="{D585D83D-A54E-41F1-A48F-6566FE459D2E}" srcOrd="0" destOrd="0" presId="urn:microsoft.com/office/officeart/2005/8/layout/process1"/>
    <dgm:cxn modelId="{49ED8889-88BA-45F6-85F1-69A30952DF24}" type="presOf" srcId="{A0143F7E-B5D7-408A-ADC2-ECAF1976DFCE}" destId="{AF1DF51C-DAF7-40F7-A1FA-F35D46B96108}" srcOrd="0" destOrd="1" presId="urn:microsoft.com/office/officeart/2005/8/layout/process1"/>
    <dgm:cxn modelId="{8A380D8E-41B0-4D99-A80C-582253165E04}" type="presOf" srcId="{E62E3A4E-C895-4B0C-BC4A-8C175E69C37D}" destId="{89D27FD6-0237-439E-8A00-1841ECB7721C}" srcOrd="0" destOrd="0" presId="urn:microsoft.com/office/officeart/2005/8/layout/process1"/>
    <dgm:cxn modelId="{4BC3818E-976D-4A7D-91E4-EF670A65A904}" type="presOf" srcId="{5E235423-E97D-4DFB-AC79-EAB75FB10991}" destId="{ED4E0B20-6141-45C9-814B-273D8360D820}" srcOrd="1" destOrd="0" presId="urn:microsoft.com/office/officeart/2005/8/layout/process1"/>
    <dgm:cxn modelId="{5C320E95-4127-4170-BB12-9A0084EF4F0B}" type="presOf" srcId="{0AA86C38-E6B7-409A-8D72-8F565E9D190E}" destId="{24D20DE6-6F64-41EE-9D84-7FD885D68E00}" srcOrd="0" destOrd="0" presId="urn:microsoft.com/office/officeart/2005/8/layout/process1"/>
    <dgm:cxn modelId="{F57D9CA3-059A-43FE-ADFE-9D5A4F9A9448}" srcId="{E9D64F20-8C63-497B-AD25-A4D4F73CB347}" destId="{B75B67BA-4B29-477B-9B59-888AD49A01F2}" srcOrd="0" destOrd="0" parTransId="{ACBFA104-CBEF-4B70-82DC-3C83AF78D9A0}" sibTransId="{87739BD6-0239-4E80-BBBF-AAAF452AB850}"/>
    <dgm:cxn modelId="{22D7AEC9-D559-443E-B43F-F8E2FAC57E74}" srcId="{E1AB29A7-9844-4B44-AFB4-EFB5044D15D3}" destId="{9518EBBA-E947-4A2B-8C3A-850B53C096F6}" srcOrd="1" destOrd="0" parTransId="{A9488CF4-22A3-45E0-9469-1FF4C79EB6B0}" sibTransId="{5E235423-E97D-4DFB-AC79-EAB75FB10991}"/>
    <dgm:cxn modelId="{D8AD20D0-30A6-4B3B-BA94-D6E39C9DCB4A}" type="presOf" srcId="{E68A0392-F563-46A4-92E1-4F738D31C2AD}" destId="{24D20DE6-6F64-41EE-9D84-7FD885D68E00}" srcOrd="0" destOrd="1" presId="urn:microsoft.com/office/officeart/2005/8/layout/process1"/>
    <dgm:cxn modelId="{ADE660D9-8686-4501-A741-AEFB1B17092D}" type="presOf" srcId="{DC5A0C8E-01B2-410E-A08A-70B9AE74CA86}" destId="{6631B14D-497E-4EA4-92A4-DFC38C58D410}" srcOrd="0" destOrd="0" presId="urn:microsoft.com/office/officeart/2005/8/layout/process1"/>
    <dgm:cxn modelId="{8794E6DB-59E5-4F75-A224-6EC73C17139F}" srcId="{0AA86C38-E6B7-409A-8D72-8F565E9D190E}" destId="{E68A0392-F563-46A4-92E1-4F738D31C2AD}" srcOrd="0" destOrd="0" parTransId="{51B125C5-A209-465B-97B4-56FD4728C29E}" sibTransId="{DB5E75F1-B220-4E4D-9ECC-BDB07730621A}"/>
    <dgm:cxn modelId="{838471E0-F1A9-4BAA-A96D-6E1B9993CD8E}" srcId="{E1AB29A7-9844-4B44-AFB4-EFB5044D15D3}" destId="{EAA13E30-180F-4DD6-BB62-D92A4B858BCE}" srcOrd="2" destOrd="0" parTransId="{48B795C8-127A-427A-A258-CFA4BC93AD16}" sibTransId="{E62E3A4E-C895-4B0C-BC4A-8C175E69C37D}"/>
    <dgm:cxn modelId="{29B704E1-C00F-4370-B203-BF3543A5C806}" srcId="{9518EBBA-E947-4A2B-8C3A-850B53C096F6}" destId="{A0143F7E-B5D7-408A-ADC2-ECAF1976DFCE}" srcOrd="0" destOrd="0" parTransId="{BD18D7A4-2696-44BA-996D-4B74C69A3DBC}" sibTransId="{BDB45F63-8A0F-4B6B-9C69-7C9F1190AA63}"/>
    <dgm:cxn modelId="{8F1799E6-402B-4043-B484-B8647DF27B9E}" type="presOf" srcId="{AF341657-2084-4932-9D74-E61550DC815B}" destId="{1079CD88-B143-4476-861F-14FACA3C86A2}" srcOrd="0" destOrd="2" presId="urn:microsoft.com/office/officeart/2005/8/layout/process1"/>
    <dgm:cxn modelId="{F71C0EFE-2318-4168-A6AD-8AB53DA3E24E}" type="presOf" srcId="{E9D64F20-8C63-497B-AD25-A4D4F73CB347}" destId="{ADAB008F-123B-4C02-A8D2-87C03DBEC283}" srcOrd="0" destOrd="0" presId="urn:microsoft.com/office/officeart/2005/8/layout/process1"/>
    <dgm:cxn modelId="{2E4556FF-73D5-4A6B-B3DE-0AD54BEB84D0}" srcId="{EAA13E30-180F-4DD6-BB62-D92A4B858BCE}" destId="{AF341657-2084-4932-9D74-E61550DC815B}" srcOrd="1" destOrd="0" parTransId="{84571C6E-7226-4118-AE28-80F8D8DC5A57}" sibTransId="{CB8C4690-566A-4FD2-B510-94B82786B2DE}"/>
    <dgm:cxn modelId="{3F49A638-1560-4CC4-B9E7-9DFA3241ED25}" type="presParOf" srcId="{C0826F5C-29E7-4561-A094-1C95C7604219}" destId="{ADAB008F-123B-4C02-A8D2-87C03DBEC283}" srcOrd="0" destOrd="0" presId="urn:microsoft.com/office/officeart/2005/8/layout/process1"/>
    <dgm:cxn modelId="{E5CEFC45-8CF3-4243-BAE4-1B63854BCDCF}" type="presParOf" srcId="{C0826F5C-29E7-4561-A094-1C95C7604219}" destId="{6631B14D-497E-4EA4-92A4-DFC38C58D410}" srcOrd="1" destOrd="0" presId="urn:microsoft.com/office/officeart/2005/8/layout/process1"/>
    <dgm:cxn modelId="{E9B710D3-FD94-4477-AA10-49C9874BB79E}" type="presParOf" srcId="{6631B14D-497E-4EA4-92A4-DFC38C58D410}" destId="{46DE6E36-77F3-4A38-AA15-B612AB20E2EF}" srcOrd="0" destOrd="0" presId="urn:microsoft.com/office/officeart/2005/8/layout/process1"/>
    <dgm:cxn modelId="{45ABCACB-E064-4BCB-9FC7-9A3CD6915A51}" type="presParOf" srcId="{C0826F5C-29E7-4561-A094-1C95C7604219}" destId="{AF1DF51C-DAF7-40F7-A1FA-F35D46B96108}" srcOrd="2" destOrd="0" presId="urn:microsoft.com/office/officeart/2005/8/layout/process1"/>
    <dgm:cxn modelId="{DAAEB33B-9BCC-4B04-B6FB-82B950920FC6}" type="presParOf" srcId="{C0826F5C-29E7-4561-A094-1C95C7604219}" destId="{D585D83D-A54E-41F1-A48F-6566FE459D2E}" srcOrd="3" destOrd="0" presId="urn:microsoft.com/office/officeart/2005/8/layout/process1"/>
    <dgm:cxn modelId="{523FB73F-25BF-41FC-9BF6-D57D6AEE7FB9}" type="presParOf" srcId="{D585D83D-A54E-41F1-A48F-6566FE459D2E}" destId="{ED4E0B20-6141-45C9-814B-273D8360D820}" srcOrd="0" destOrd="0" presId="urn:microsoft.com/office/officeart/2005/8/layout/process1"/>
    <dgm:cxn modelId="{67AB521C-3775-4E09-9B77-F721CBFA09F5}" type="presParOf" srcId="{C0826F5C-29E7-4561-A094-1C95C7604219}" destId="{1079CD88-B143-4476-861F-14FACA3C86A2}" srcOrd="4" destOrd="0" presId="urn:microsoft.com/office/officeart/2005/8/layout/process1"/>
    <dgm:cxn modelId="{89F1E0F2-CEFD-4392-A2C8-362EDECD05DE}" type="presParOf" srcId="{C0826F5C-29E7-4561-A094-1C95C7604219}" destId="{89D27FD6-0237-439E-8A00-1841ECB7721C}" srcOrd="5" destOrd="0" presId="urn:microsoft.com/office/officeart/2005/8/layout/process1"/>
    <dgm:cxn modelId="{8A391135-2B7F-4ADF-92B8-161193A93E16}" type="presParOf" srcId="{89D27FD6-0237-439E-8A00-1841ECB7721C}" destId="{B6647190-5D89-4E22-9777-94EF1398741E}" srcOrd="0" destOrd="0" presId="urn:microsoft.com/office/officeart/2005/8/layout/process1"/>
    <dgm:cxn modelId="{81F1BAF0-5D6D-4D3B-B5C9-7B7C0F8A20FA}" type="presParOf" srcId="{C0826F5C-29E7-4561-A094-1C95C7604219}" destId="{24D20DE6-6F64-41EE-9D84-7FD885D68E00}"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4E720C-5B43-45ED-AFEC-EF39F1626035}">
      <dsp:nvSpPr>
        <dsp:cNvPr id="0" name=""/>
        <dsp:cNvSpPr/>
      </dsp:nvSpPr>
      <dsp:spPr>
        <a:xfrm rot="5400000">
          <a:off x="2117338" y="1089387"/>
          <a:ext cx="956718" cy="1089190"/>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E9015F-4A3F-4AA5-97F5-E9548D7CEF56}">
      <dsp:nvSpPr>
        <dsp:cNvPr id="0" name=""/>
        <dsp:cNvSpPr/>
      </dsp:nvSpPr>
      <dsp:spPr>
        <a:xfrm>
          <a:off x="1863865" y="28845"/>
          <a:ext cx="1610551" cy="1127333"/>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Formulation</a:t>
          </a:r>
        </a:p>
      </dsp:txBody>
      <dsp:txXfrm>
        <a:off x="1918907" y="83887"/>
        <a:ext cx="1500467" cy="1017249"/>
      </dsp:txXfrm>
    </dsp:sp>
    <dsp:sp modelId="{32829251-977B-429B-AE9F-DCD5FAD85AEA}">
      <dsp:nvSpPr>
        <dsp:cNvPr id="0" name=""/>
        <dsp:cNvSpPr/>
      </dsp:nvSpPr>
      <dsp:spPr>
        <a:xfrm>
          <a:off x="3474417" y="136362"/>
          <a:ext cx="1171361" cy="911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57150" lvl="1" indent="-57150" algn="l" defTabSz="488950">
            <a:lnSpc>
              <a:spcPct val="90000"/>
            </a:lnSpc>
            <a:spcBef>
              <a:spcPct val="0"/>
            </a:spcBef>
            <a:spcAft>
              <a:spcPct val="15000"/>
            </a:spcAft>
            <a:buChar char="•"/>
          </a:pPr>
          <a:r>
            <a:rPr lang="en-SG" sz="1100" kern="1200" dirty="0"/>
            <a:t>Mostly done</a:t>
          </a:r>
        </a:p>
      </dsp:txBody>
      <dsp:txXfrm>
        <a:off x="3474417" y="136362"/>
        <a:ext cx="1171361" cy="911160"/>
      </dsp:txXfrm>
    </dsp:sp>
    <dsp:sp modelId="{78CFD32E-F5F2-42D7-AE40-FAD7D03EB189}">
      <dsp:nvSpPr>
        <dsp:cNvPr id="0" name=""/>
        <dsp:cNvSpPr/>
      </dsp:nvSpPr>
      <dsp:spPr>
        <a:xfrm rot="5400000">
          <a:off x="3452656" y="2355755"/>
          <a:ext cx="956718" cy="1089190"/>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7DA68FB-FB2E-4FFD-A982-1229BFB14EC3}">
      <dsp:nvSpPr>
        <dsp:cNvPr id="0" name=""/>
        <dsp:cNvSpPr/>
      </dsp:nvSpPr>
      <dsp:spPr>
        <a:xfrm>
          <a:off x="3199184" y="1295213"/>
          <a:ext cx="1610551" cy="1127333"/>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Testing</a:t>
          </a:r>
          <a:br>
            <a:rPr lang="en-SG" sz="1500" kern="1200" dirty="0"/>
          </a:br>
          <a:r>
            <a:rPr lang="en-SG" sz="1500" kern="1200" dirty="0"/>
            <a:t>Concepts</a:t>
          </a:r>
        </a:p>
      </dsp:txBody>
      <dsp:txXfrm>
        <a:off x="3254226" y="1350255"/>
        <a:ext cx="1500467" cy="1017249"/>
      </dsp:txXfrm>
    </dsp:sp>
    <dsp:sp modelId="{A4900580-107B-423A-95CD-78686B36DA0E}">
      <dsp:nvSpPr>
        <dsp:cNvPr id="0" name=""/>
        <dsp:cNvSpPr/>
      </dsp:nvSpPr>
      <dsp:spPr>
        <a:xfrm>
          <a:off x="4809735" y="1402730"/>
          <a:ext cx="1171361" cy="911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57150" lvl="1" indent="-57150" algn="l" defTabSz="488950">
            <a:lnSpc>
              <a:spcPct val="90000"/>
            </a:lnSpc>
            <a:spcBef>
              <a:spcPct val="0"/>
            </a:spcBef>
            <a:spcAft>
              <a:spcPct val="15000"/>
            </a:spcAft>
            <a:buChar char="•"/>
          </a:pPr>
          <a:r>
            <a:rPr lang="en-SG" sz="1100" kern="1200" dirty="0"/>
            <a:t>Mostly Done</a:t>
          </a:r>
        </a:p>
      </dsp:txBody>
      <dsp:txXfrm>
        <a:off x="4809735" y="1402730"/>
        <a:ext cx="1171361" cy="911160"/>
      </dsp:txXfrm>
    </dsp:sp>
    <dsp:sp modelId="{AB5BF229-E515-4758-BFB5-3EEDDC946206}">
      <dsp:nvSpPr>
        <dsp:cNvPr id="0" name=""/>
        <dsp:cNvSpPr/>
      </dsp:nvSpPr>
      <dsp:spPr>
        <a:xfrm rot="5400000">
          <a:off x="4787974" y="3622123"/>
          <a:ext cx="956718" cy="1089190"/>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66FA59-EAFE-4CE6-9715-6B0D6E919D74}">
      <dsp:nvSpPr>
        <dsp:cNvPr id="0" name=""/>
        <dsp:cNvSpPr/>
      </dsp:nvSpPr>
      <dsp:spPr>
        <a:xfrm>
          <a:off x="4534502" y="2561581"/>
          <a:ext cx="1610551" cy="1127333"/>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Implementation</a:t>
          </a:r>
        </a:p>
      </dsp:txBody>
      <dsp:txXfrm>
        <a:off x="4589544" y="2616623"/>
        <a:ext cx="1500467" cy="1017249"/>
      </dsp:txXfrm>
    </dsp:sp>
    <dsp:sp modelId="{D6C17605-4223-43F1-8A06-FD1B136EF9AA}">
      <dsp:nvSpPr>
        <dsp:cNvPr id="0" name=""/>
        <dsp:cNvSpPr/>
      </dsp:nvSpPr>
      <dsp:spPr>
        <a:xfrm>
          <a:off x="6145054" y="2669098"/>
          <a:ext cx="1171361" cy="911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57150" lvl="1" indent="-57150" algn="l" defTabSz="488950">
            <a:lnSpc>
              <a:spcPct val="90000"/>
            </a:lnSpc>
            <a:spcBef>
              <a:spcPct val="0"/>
            </a:spcBef>
            <a:spcAft>
              <a:spcPct val="15000"/>
            </a:spcAft>
            <a:buChar char="•"/>
          </a:pPr>
          <a:r>
            <a:rPr lang="en-SG" sz="1100" kern="1200" dirty="0"/>
            <a:t>Halfway Done</a:t>
          </a:r>
        </a:p>
        <a:p>
          <a:pPr marL="57150" lvl="1" indent="-57150" algn="l" defTabSz="488950">
            <a:lnSpc>
              <a:spcPct val="90000"/>
            </a:lnSpc>
            <a:spcBef>
              <a:spcPct val="0"/>
            </a:spcBef>
            <a:spcAft>
              <a:spcPct val="15000"/>
            </a:spcAft>
            <a:buChar char="•"/>
          </a:pPr>
          <a:r>
            <a:rPr lang="en-SG" sz="1100" kern="1200" dirty="0"/>
            <a:t>We need to test parsing and DB RAM usage</a:t>
          </a:r>
        </a:p>
      </dsp:txBody>
      <dsp:txXfrm>
        <a:off x="6145054" y="2669098"/>
        <a:ext cx="1171361" cy="911160"/>
      </dsp:txXfrm>
    </dsp:sp>
    <dsp:sp modelId="{8B2AA6FD-4537-425E-ABA4-68F9D807C75E}">
      <dsp:nvSpPr>
        <dsp:cNvPr id="0" name=""/>
        <dsp:cNvSpPr/>
      </dsp:nvSpPr>
      <dsp:spPr>
        <a:xfrm>
          <a:off x="5869820" y="3827948"/>
          <a:ext cx="1610551" cy="1127333"/>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Production</a:t>
          </a:r>
        </a:p>
      </dsp:txBody>
      <dsp:txXfrm>
        <a:off x="5924862" y="3882990"/>
        <a:ext cx="1500467" cy="1017249"/>
      </dsp:txXfrm>
    </dsp:sp>
    <dsp:sp modelId="{18913296-20DB-4CA0-87D8-190BFD788857}">
      <dsp:nvSpPr>
        <dsp:cNvPr id="0" name=""/>
        <dsp:cNvSpPr/>
      </dsp:nvSpPr>
      <dsp:spPr>
        <a:xfrm>
          <a:off x="7480372" y="3935465"/>
          <a:ext cx="1171361" cy="911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ctr" anchorCtr="0">
          <a:noAutofit/>
        </a:bodyPr>
        <a:lstStyle/>
        <a:p>
          <a:pPr marL="171450" lvl="1" indent="-171450" algn="l" defTabSz="755650">
            <a:lnSpc>
              <a:spcPct val="90000"/>
            </a:lnSpc>
            <a:spcBef>
              <a:spcPct val="0"/>
            </a:spcBef>
            <a:spcAft>
              <a:spcPct val="15000"/>
            </a:spcAft>
            <a:buChar char="•"/>
          </a:pPr>
          <a:r>
            <a:rPr lang="en-SG" sz="1700" kern="1200" dirty="0"/>
            <a:t>Not started yet</a:t>
          </a:r>
        </a:p>
      </dsp:txBody>
      <dsp:txXfrm>
        <a:off x="7480372" y="3935465"/>
        <a:ext cx="1171361" cy="9111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AB008F-123B-4C02-A8D2-87C03DBEC283}">
      <dsp:nvSpPr>
        <dsp:cNvPr id="0" name=""/>
        <dsp:cNvSpPr/>
      </dsp:nvSpPr>
      <dsp:spPr>
        <a:xfrm>
          <a:off x="4621" y="1484295"/>
          <a:ext cx="2020453" cy="138274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SG" sz="1800" kern="1200" dirty="0"/>
            <a:t>Jan 25:</a:t>
          </a:r>
        </a:p>
        <a:p>
          <a:pPr marL="114300" lvl="1" indent="-114300" algn="l" defTabSz="622300">
            <a:lnSpc>
              <a:spcPct val="90000"/>
            </a:lnSpc>
            <a:spcBef>
              <a:spcPct val="0"/>
            </a:spcBef>
            <a:spcAft>
              <a:spcPct val="15000"/>
            </a:spcAft>
            <a:buChar char="•"/>
          </a:pPr>
          <a:r>
            <a:rPr lang="en-SG" sz="1400" kern="1200" dirty="0"/>
            <a:t>Cleanup of repository</a:t>
          </a:r>
        </a:p>
      </dsp:txBody>
      <dsp:txXfrm>
        <a:off x="45120" y="1524794"/>
        <a:ext cx="1939455" cy="1301749"/>
      </dsp:txXfrm>
    </dsp:sp>
    <dsp:sp modelId="{6631B14D-497E-4EA4-92A4-DFC38C58D410}">
      <dsp:nvSpPr>
        <dsp:cNvPr id="0" name=""/>
        <dsp:cNvSpPr/>
      </dsp:nvSpPr>
      <dsp:spPr>
        <a:xfrm>
          <a:off x="2227119" y="1925132"/>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kern="1200"/>
        </a:p>
      </dsp:txBody>
      <dsp:txXfrm>
        <a:off x="2227119" y="2025346"/>
        <a:ext cx="299835" cy="300644"/>
      </dsp:txXfrm>
    </dsp:sp>
    <dsp:sp modelId="{AF1DF51C-DAF7-40F7-A1FA-F35D46B96108}">
      <dsp:nvSpPr>
        <dsp:cNvPr id="0" name=""/>
        <dsp:cNvSpPr/>
      </dsp:nvSpPr>
      <dsp:spPr>
        <a:xfrm>
          <a:off x="2833255" y="1484295"/>
          <a:ext cx="2020453" cy="138274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SG" sz="1800" kern="1200" dirty="0"/>
            <a:t>Feb 25:</a:t>
          </a:r>
        </a:p>
        <a:p>
          <a:pPr marL="114300" lvl="1" indent="-114300" algn="l" defTabSz="622300">
            <a:lnSpc>
              <a:spcPct val="90000"/>
            </a:lnSpc>
            <a:spcBef>
              <a:spcPct val="0"/>
            </a:spcBef>
            <a:spcAft>
              <a:spcPct val="15000"/>
            </a:spcAft>
            <a:buChar char="•"/>
          </a:pPr>
          <a:r>
            <a:rPr lang="en-SG" sz="1400" kern="1200" dirty="0"/>
            <a:t>Implementation and testing</a:t>
          </a:r>
        </a:p>
      </dsp:txBody>
      <dsp:txXfrm>
        <a:off x="2873754" y="1524794"/>
        <a:ext cx="1939455" cy="1301749"/>
      </dsp:txXfrm>
    </dsp:sp>
    <dsp:sp modelId="{D585D83D-A54E-41F1-A48F-6566FE459D2E}">
      <dsp:nvSpPr>
        <dsp:cNvPr id="0" name=""/>
        <dsp:cNvSpPr/>
      </dsp:nvSpPr>
      <dsp:spPr>
        <a:xfrm>
          <a:off x="5055754" y="1925132"/>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kern="1200"/>
        </a:p>
      </dsp:txBody>
      <dsp:txXfrm>
        <a:off x="5055754" y="2025346"/>
        <a:ext cx="299835" cy="300644"/>
      </dsp:txXfrm>
    </dsp:sp>
    <dsp:sp modelId="{1079CD88-B143-4476-861F-14FACA3C86A2}">
      <dsp:nvSpPr>
        <dsp:cNvPr id="0" name=""/>
        <dsp:cNvSpPr/>
      </dsp:nvSpPr>
      <dsp:spPr>
        <a:xfrm>
          <a:off x="5661890" y="1484295"/>
          <a:ext cx="2020453" cy="138274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SG" sz="1800" kern="1200" dirty="0"/>
            <a:t>Mar 25:</a:t>
          </a:r>
        </a:p>
        <a:p>
          <a:pPr marL="114300" lvl="1" indent="-114300" algn="l" defTabSz="622300">
            <a:lnSpc>
              <a:spcPct val="90000"/>
            </a:lnSpc>
            <a:spcBef>
              <a:spcPct val="0"/>
            </a:spcBef>
            <a:spcAft>
              <a:spcPct val="15000"/>
            </a:spcAft>
            <a:buChar char="•"/>
          </a:pPr>
          <a:r>
            <a:rPr lang="en-SG" sz="1400" kern="1200" dirty="0"/>
            <a:t>Production for 1:1 analysis</a:t>
          </a:r>
        </a:p>
        <a:p>
          <a:pPr marL="114300" lvl="1" indent="-114300" algn="l" defTabSz="622300">
            <a:lnSpc>
              <a:spcPct val="90000"/>
            </a:lnSpc>
            <a:spcBef>
              <a:spcPct val="0"/>
            </a:spcBef>
            <a:spcAft>
              <a:spcPct val="15000"/>
            </a:spcAft>
            <a:buChar char="•"/>
          </a:pPr>
          <a:r>
            <a:rPr lang="en-SG" sz="1400" kern="1200" dirty="0"/>
            <a:t>Data Migration and Matching 1</a:t>
          </a:r>
        </a:p>
      </dsp:txBody>
      <dsp:txXfrm>
        <a:off x="5702389" y="1524794"/>
        <a:ext cx="1939455" cy="1301749"/>
      </dsp:txXfrm>
    </dsp:sp>
    <dsp:sp modelId="{89D27FD6-0237-439E-8A00-1841ECB7721C}">
      <dsp:nvSpPr>
        <dsp:cNvPr id="0" name=""/>
        <dsp:cNvSpPr/>
      </dsp:nvSpPr>
      <dsp:spPr>
        <a:xfrm>
          <a:off x="7884389" y="1925132"/>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kern="1200"/>
        </a:p>
      </dsp:txBody>
      <dsp:txXfrm>
        <a:off x="7884389" y="2025346"/>
        <a:ext cx="299835" cy="300644"/>
      </dsp:txXfrm>
    </dsp:sp>
    <dsp:sp modelId="{24D20DE6-6F64-41EE-9D84-7FD885D68E00}">
      <dsp:nvSpPr>
        <dsp:cNvPr id="0" name=""/>
        <dsp:cNvSpPr/>
      </dsp:nvSpPr>
      <dsp:spPr>
        <a:xfrm>
          <a:off x="8490525" y="1484295"/>
          <a:ext cx="2020453" cy="138274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SG" sz="1800" kern="1200" dirty="0"/>
            <a:t>Apr 25:</a:t>
          </a:r>
        </a:p>
        <a:p>
          <a:pPr marL="114300" lvl="1" indent="-114300" algn="l" defTabSz="622300">
            <a:lnSpc>
              <a:spcPct val="90000"/>
            </a:lnSpc>
            <a:spcBef>
              <a:spcPct val="0"/>
            </a:spcBef>
            <a:spcAft>
              <a:spcPct val="15000"/>
            </a:spcAft>
            <a:buChar char="•"/>
          </a:pPr>
          <a:r>
            <a:rPr lang="en-SG" sz="1400" kern="1200" dirty="0"/>
            <a:t>Data Migration and Matching 2</a:t>
          </a:r>
        </a:p>
      </dsp:txBody>
      <dsp:txXfrm>
        <a:off x="8531024" y="1524794"/>
        <a:ext cx="1939455" cy="1301749"/>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070DA-64BC-48C9-9458-3367A69F4C4F}" type="datetimeFigureOut">
              <a:rPr lang="en-SG" smtClean="0"/>
              <a:t>11/2/2025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D1EE0E-AC9B-418A-89F9-2F6FEDF63B89}" type="slidenum">
              <a:rPr lang="en-SG" smtClean="0"/>
              <a:t>‹#›</a:t>
            </a:fld>
            <a:endParaRPr lang="en-SG"/>
          </a:p>
        </p:txBody>
      </p:sp>
    </p:spTree>
    <p:extLst>
      <p:ext uri="{BB962C8B-B14F-4D97-AF65-F5344CB8AC3E}">
        <p14:creationId xmlns:p14="http://schemas.microsoft.com/office/powerpoint/2010/main" val="2224812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5DD1EE0E-AC9B-418A-89F9-2F6FEDF63B89}" type="slidenum">
              <a:rPr lang="en-SG" smtClean="0"/>
              <a:t>12</a:t>
            </a:fld>
            <a:endParaRPr lang="en-SG"/>
          </a:p>
        </p:txBody>
      </p:sp>
    </p:spTree>
    <p:extLst>
      <p:ext uri="{BB962C8B-B14F-4D97-AF65-F5344CB8AC3E}">
        <p14:creationId xmlns:p14="http://schemas.microsoft.com/office/powerpoint/2010/main" val="2164866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DD1EE0E-AC9B-418A-89F9-2F6FEDF63B89}" type="slidenum">
              <a:rPr lang="en-SG" smtClean="0"/>
              <a:t>25</a:t>
            </a:fld>
            <a:endParaRPr lang="en-SG"/>
          </a:p>
        </p:txBody>
      </p:sp>
    </p:spTree>
    <p:extLst>
      <p:ext uri="{BB962C8B-B14F-4D97-AF65-F5344CB8AC3E}">
        <p14:creationId xmlns:p14="http://schemas.microsoft.com/office/powerpoint/2010/main" val="3553351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E275D-DF37-001D-7311-204499555C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CF276120-2DB7-0FDA-C693-36810B8093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AC0729A1-A956-B4C7-4487-E3A67DBDDCC3}"/>
              </a:ext>
            </a:extLst>
          </p:cNvPr>
          <p:cNvSpPr>
            <a:spLocks noGrp="1"/>
          </p:cNvSpPr>
          <p:nvPr>
            <p:ph type="dt" sz="half" idx="10"/>
          </p:nvPr>
        </p:nvSpPr>
        <p:spPr/>
        <p:txBody>
          <a:bodyPr/>
          <a:lstStyle/>
          <a:p>
            <a:fld id="{B8A49B80-27BE-4323-AD90-D3AB7BFD7627}" type="datetime1">
              <a:rPr lang="en-SG" smtClean="0"/>
              <a:t>11/2/2025</a:t>
            </a:fld>
            <a:endParaRPr lang="en-SG"/>
          </a:p>
        </p:txBody>
      </p:sp>
      <p:sp>
        <p:nvSpPr>
          <p:cNvPr id="5" name="Footer Placeholder 4">
            <a:extLst>
              <a:ext uri="{FF2B5EF4-FFF2-40B4-BE49-F238E27FC236}">
                <a16:creationId xmlns:a16="http://schemas.microsoft.com/office/drawing/2014/main" id="{D3B1F3E5-5C52-384A-3DE8-E46EFAB75BE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0C7067A-7FFF-B2E9-B84A-AE8D978B0D53}"/>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3617890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67F66-B879-B312-6C67-B8069D5D8C66}"/>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7D15A1A-C180-A73E-5E44-059C52ACF1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0BFA642-A284-541B-1555-2DAD1BDC92D0}"/>
              </a:ext>
            </a:extLst>
          </p:cNvPr>
          <p:cNvSpPr>
            <a:spLocks noGrp="1"/>
          </p:cNvSpPr>
          <p:nvPr>
            <p:ph type="dt" sz="half" idx="10"/>
          </p:nvPr>
        </p:nvSpPr>
        <p:spPr/>
        <p:txBody>
          <a:bodyPr/>
          <a:lstStyle/>
          <a:p>
            <a:fld id="{5DB95B08-2D74-4883-BD0C-E52BF27E6E1A}" type="datetime1">
              <a:rPr lang="en-SG" smtClean="0"/>
              <a:t>11/2/2025</a:t>
            </a:fld>
            <a:endParaRPr lang="en-SG"/>
          </a:p>
        </p:txBody>
      </p:sp>
      <p:sp>
        <p:nvSpPr>
          <p:cNvPr id="5" name="Footer Placeholder 4">
            <a:extLst>
              <a:ext uri="{FF2B5EF4-FFF2-40B4-BE49-F238E27FC236}">
                <a16:creationId xmlns:a16="http://schemas.microsoft.com/office/drawing/2014/main" id="{31155F05-CFE1-EB1C-FDDC-EA4CFA737E8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2511118-1BAE-9F61-0595-545CEF04C1F5}"/>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3480752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C22BD-11B7-9C4B-CDFE-CD22D4ECDB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26E5E2A8-7240-80C8-7B9F-2DD15699C3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686E4C-1E6F-29CA-7698-DF768894B2D8}"/>
              </a:ext>
            </a:extLst>
          </p:cNvPr>
          <p:cNvSpPr>
            <a:spLocks noGrp="1"/>
          </p:cNvSpPr>
          <p:nvPr>
            <p:ph type="dt" sz="half" idx="10"/>
          </p:nvPr>
        </p:nvSpPr>
        <p:spPr/>
        <p:txBody>
          <a:bodyPr/>
          <a:lstStyle/>
          <a:p>
            <a:fld id="{62B2FE00-5D2B-4074-963E-54CEFCBC6E49}" type="datetime1">
              <a:rPr lang="en-SG" smtClean="0"/>
              <a:t>11/2/2025</a:t>
            </a:fld>
            <a:endParaRPr lang="en-SG"/>
          </a:p>
        </p:txBody>
      </p:sp>
      <p:sp>
        <p:nvSpPr>
          <p:cNvPr id="5" name="Footer Placeholder 4">
            <a:extLst>
              <a:ext uri="{FF2B5EF4-FFF2-40B4-BE49-F238E27FC236}">
                <a16:creationId xmlns:a16="http://schemas.microsoft.com/office/drawing/2014/main" id="{120682FB-9258-9226-C73D-E3F11066338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2919A1A-4D68-79D2-81A0-8C446782A08D}"/>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2084581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F8BD3-7DEE-0622-94EC-C2F3B9359E1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4E1B088-A273-232C-4049-CE618EA49A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4207A3EE-E06A-F9F9-A4F9-E0E762F2A7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F25A0566-B5FD-E6F3-07ED-7D36CE9EEFAA}"/>
              </a:ext>
            </a:extLst>
          </p:cNvPr>
          <p:cNvSpPr>
            <a:spLocks noGrp="1"/>
          </p:cNvSpPr>
          <p:nvPr>
            <p:ph type="dt" sz="half" idx="10"/>
          </p:nvPr>
        </p:nvSpPr>
        <p:spPr/>
        <p:txBody>
          <a:bodyPr/>
          <a:lstStyle/>
          <a:p>
            <a:fld id="{B3E1550D-F393-4F3A-841D-3C7195FC0739}" type="datetime1">
              <a:rPr lang="en-SG" smtClean="0"/>
              <a:t>11/2/2025</a:t>
            </a:fld>
            <a:endParaRPr lang="en-SG"/>
          </a:p>
        </p:txBody>
      </p:sp>
      <p:sp>
        <p:nvSpPr>
          <p:cNvPr id="6" name="Footer Placeholder 5">
            <a:extLst>
              <a:ext uri="{FF2B5EF4-FFF2-40B4-BE49-F238E27FC236}">
                <a16:creationId xmlns:a16="http://schemas.microsoft.com/office/drawing/2014/main" id="{9DBC2204-5191-3244-84D6-A9B39361D8BB}"/>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6901254A-FE70-EABD-5B83-B347E8A4FCE9}"/>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609139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A044F-4380-94BA-20A0-849B5FA71FC5}"/>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BC8F2D91-0CB3-18F3-8D4F-373C5030AB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08F686-F51F-711A-590E-F97433826D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DDDB1EA5-5829-7CE7-C032-09DBECF237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90CC42-9697-A75F-3658-413744399D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276DB8EC-6482-F9C8-3992-6FBFBC68EFBF}"/>
              </a:ext>
            </a:extLst>
          </p:cNvPr>
          <p:cNvSpPr>
            <a:spLocks noGrp="1"/>
          </p:cNvSpPr>
          <p:nvPr>
            <p:ph type="dt" sz="half" idx="10"/>
          </p:nvPr>
        </p:nvSpPr>
        <p:spPr/>
        <p:txBody>
          <a:bodyPr/>
          <a:lstStyle/>
          <a:p>
            <a:fld id="{E6CC83EB-7738-42F0-8927-8E4E66E30DD2}" type="datetime1">
              <a:rPr lang="en-SG" smtClean="0"/>
              <a:t>11/2/2025</a:t>
            </a:fld>
            <a:endParaRPr lang="en-SG"/>
          </a:p>
        </p:txBody>
      </p:sp>
      <p:sp>
        <p:nvSpPr>
          <p:cNvPr id="8" name="Footer Placeholder 7">
            <a:extLst>
              <a:ext uri="{FF2B5EF4-FFF2-40B4-BE49-F238E27FC236}">
                <a16:creationId xmlns:a16="http://schemas.microsoft.com/office/drawing/2014/main" id="{2D29351B-2315-E7C2-A7E7-4AFABDCC8DB9}"/>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5651AE3F-2BD3-9140-09A1-E2D290E12391}"/>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047357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C3B58-59D1-84CA-9C66-92451C6F51E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1D1DE0A0-7CD6-42D0-03FF-081BB9F9F493}"/>
              </a:ext>
            </a:extLst>
          </p:cNvPr>
          <p:cNvSpPr>
            <a:spLocks noGrp="1"/>
          </p:cNvSpPr>
          <p:nvPr>
            <p:ph type="dt" sz="half" idx="10"/>
          </p:nvPr>
        </p:nvSpPr>
        <p:spPr/>
        <p:txBody>
          <a:bodyPr/>
          <a:lstStyle/>
          <a:p>
            <a:fld id="{AAC1E513-DB1B-45EB-B46A-3935614BD0E2}" type="datetime1">
              <a:rPr lang="en-SG" smtClean="0"/>
              <a:t>11/2/2025</a:t>
            </a:fld>
            <a:endParaRPr lang="en-SG"/>
          </a:p>
        </p:txBody>
      </p:sp>
      <p:sp>
        <p:nvSpPr>
          <p:cNvPr id="4" name="Footer Placeholder 3">
            <a:extLst>
              <a:ext uri="{FF2B5EF4-FFF2-40B4-BE49-F238E27FC236}">
                <a16:creationId xmlns:a16="http://schemas.microsoft.com/office/drawing/2014/main" id="{E7ADB6BB-BD04-1BAA-389B-A8297BB1A0AE}"/>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0BD0328E-46BF-525C-2023-EF3BAC673F88}"/>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275478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ECC377-60D6-DF1A-66B6-3BB1A530B15A}"/>
              </a:ext>
            </a:extLst>
          </p:cNvPr>
          <p:cNvSpPr>
            <a:spLocks noGrp="1"/>
          </p:cNvSpPr>
          <p:nvPr>
            <p:ph type="dt" sz="half" idx="10"/>
          </p:nvPr>
        </p:nvSpPr>
        <p:spPr/>
        <p:txBody>
          <a:bodyPr/>
          <a:lstStyle/>
          <a:p>
            <a:fld id="{2DEC71EB-2F93-4913-B625-D31419A69300}" type="datetime1">
              <a:rPr lang="en-SG" smtClean="0"/>
              <a:t>11/2/2025</a:t>
            </a:fld>
            <a:endParaRPr lang="en-SG"/>
          </a:p>
        </p:txBody>
      </p:sp>
      <p:sp>
        <p:nvSpPr>
          <p:cNvPr id="3" name="Footer Placeholder 2">
            <a:extLst>
              <a:ext uri="{FF2B5EF4-FFF2-40B4-BE49-F238E27FC236}">
                <a16:creationId xmlns:a16="http://schemas.microsoft.com/office/drawing/2014/main" id="{6568FC60-E2DE-A7B1-15D8-EBA3B69A08B1}"/>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1DD378FE-1A74-5E8C-A4BC-49B499A05C1D}"/>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026934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A0BD0-648A-6E81-4A44-F0DFC2016E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30A869C4-C57E-497B-3830-D010049402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1845B2E5-BF37-AB0A-CC04-3EDEA69995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AE57AF-B09D-9700-1D4E-3AE8E1011E40}"/>
              </a:ext>
            </a:extLst>
          </p:cNvPr>
          <p:cNvSpPr>
            <a:spLocks noGrp="1"/>
          </p:cNvSpPr>
          <p:nvPr>
            <p:ph type="dt" sz="half" idx="10"/>
          </p:nvPr>
        </p:nvSpPr>
        <p:spPr/>
        <p:txBody>
          <a:bodyPr/>
          <a:lstStyle/>
          <a:p>
            <a:fld id="{8096FF60-368E-4DCC-8927-A016D18A8E17}" type="datetime1">
              <a:rPr lang="en-SG" smtClean="0"/>
              <a:t>11/2/2025</a:t>
            </a:fld>
            <a:endParaRPr lang="en-SG"/>
          </a:p>
        </p:txBody>
      </p:sp>
      <p:sp>
        <p:nvSpPr>
          <p:cNvPr id="6" name="Footer Placeholder 5">
            <a:extLst>
              <a:ext uri="{FF2B5EF4-FFF2-40B4-BE49-F238E27FC236}">
                <a16:creationId xmlns:a16="http://schemas.microsoft.com/office/drawing/2014/main" id="{28CDCBF1-A685-D416-8792-D0A31AFBA8B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5219D61-7120-BD3F-C175-20AA72AE2BC4}"/>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282249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ACEA5-ACF1-7EA0-AC33-BFEFDA2293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FA67DC43-9C64-BD87-1D80-4D3D065A2D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ED9EBA78-16BB-C4D3-374E-40E514FB68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E3A1BE-FEFC-B1C2-2CCA-EE156E4124C3}"/>
              </a:ext>
            </a:extLst>
          </p:cNvPr>
          <p:cNvSpPr>
            <a:spLocks noGrp="1"/>
          </p:cNvSpPr>
          <p:nvPr>
            <p:ph type="dt" sz="half" idx="10"/>
          </p:nvPr>
        </p:nvSpPr>
        <p:spPr/>
        <p:txBody>
          <a:bodyPr/>
          <a:lstStyle/>
          <a:p>
            <a:fld id="{B7D273F3-B68F-4C4B-89E3-09810460E152}" type="datetime1">
              <a:rPr lang="en-SG" smtClean="0"/>
              <a:t>11/2/2025</a:t>
            </a:fld>
            <a:endParaRPr lang="en-SG"/>
          </a:p>
        </p:txBody>
      </p:sp>
      <p:sp>
        <p:nvSpPr>
          <p:cNvPr id="6" name="Footer Placeholder 5">
            <a:extLst>
              <a:ext uri="{FF2B5EF4-FFF2-40B4-BE49-F238E27FC236}">
                <a16:creationId xmlns:a16="http://schemas.microsoft.com/office/drawing/2014/main" id="{93FBB646-2D90-63F5-C2E0-5A79457E69EE}"/>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12DA484-F9DF-F6CB-685F-4F787CD92F72}"/>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530670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A9B9D-F75B-0B19-C85A-47999A445AB9}"/>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24E14C3-E696-CF3E-14AF-E4A1EBAD01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35BFC57-1D71-E163-D692-68A27FB1AC06}"/>
              </a:ext>
            </a:extLst>
          </p:cNvPr>
          <p:cNvSpPr>
            <a:spLocks noGrp="1"/>
          </p:cNvSpPr>
          <p:nvPr>
            <p:ph type="dt" sz="half" idx="10"/>
          </p:nvPr>
        </p:nvSpPr>
        <p:spPr/>
        <p:txBody>
          <a:bodyPr/>
          <a:lstStyle/>
          <a:p>
            <a:fld id="{4CCE35A9-6B52-4565-B19B-B9ACA18ECC81}" type="datetime1">
              <a:rPr lang="en-SG" smtClean="0"/>
              <a:t>11/2/2025</a:t>
            </a:fld>
            <a:endParaRPr lang="en-SG"/>
          </a:p>
        </p:txBody>
      </p:sp>
      <p:sp>
        <p:nvSpPr>
          <p:cNvPr id="5" name="Footer Placeholder 4">
            <a:extLst>
              <a:ext uri="{FF2B5EF4-FFF2-40B4-BE49-F238E27FC236}">
                <a16:creationId xmlns:a16="http://schemas.microsoft.com/office/drawing/2014/main" id="{D3652BAB-BE9D-C23D-B3D8-BE38B4437E6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6F3A2C6-56B4-B1EC-B76F-800CFAEC9DBA}"/>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093409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CD4D66-842E-F1F2-8BF9-A74F7AEC49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3E2AD838-0174-FFEE-0CDB-4FA296C352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6644A44-3804-C89A-8775-7B1C50F3D761}"/>
              </a:ext>
            </a:extLst>
          </p:cNvPr>
          <p:cNvSpPr>
            <a:spLocks noGrp="1"/>
          </p:cNvSpPr>
          <p:nvPr>
            <p:ph type="dt" sz="half" idx="10"/>
          </p:nvPr>
        </p:nvSpPr>
        <p:spPr/>
        <p:txBody>
          <a:bodyPr/>
          <a:lstStyle/>
          <a:p>
            <a:fld id="{98126459-D30E-423C-98F6-0B226F75A332}" type="datetime1">
              <a:rPr lang="en-SG" smtClean="0"/>
              <a:t>11/2/2025</a:t>
            </a:fld>
            <a:endParaRPr lang="en-SG"/>
          </a:p>
        </p:txBody>
      </p:sp>
      <p:sp>
        <p:nvSpPr>
          <p:cNvPr id="5" name="Footer Placeholder 4">
            <a:extLst>
              <a:ext uri="{FF2B5EF4-FFF2-40B4-BE49-F238E27FC236}">
                <a16:creationId xmlns:a16="http://schemas.microsoft.com/office/drawing/2014/main" id="{B597738C-E9EE-E608-F4B1-321BD82FD98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17AD1DB-07CB-3B44-21C4-6430AF785354}"/>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276856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FD2D2B-D6B5-8FCD-2A92-446568F199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B9329E2-E913-F1F5-261C-38CECB3198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65475CD-5823-6102-088E-A6624E277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B79603-9298-4DB6-86E2-16F568A9EC20}" type="datetime1">
              <a:rPr lang="en-SG" smtClean="0"/>
              <a:t>11/2/2025</a:t>
            </a:fld>
            <a:endParaRPr lang="en-SG"/>
          </a:p>
        </p:txBody>
      </p:sp>
      <p:sp>
        <p:nvSpPr>
          <p:cNvPr id="5" name="Footer Placeholder 4">
            <a:extLst>
              <a:ext uri="{FF2B5EF4-FFF2-40B4-BE49-F238E27FC236}">
                <a16:creationId xmlns:a16="http://schemas.microsoft.com/office/drawing/2014/main" id="{7B14DD4F-D90F-7FD0-2321-4A2BC893CE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CA1D59A1-6BB2-700B-EAFD-8495BC0244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54034E-8563-446C-A601-BAA5C0C55C8E}" type="slidenum">
              <a:rPr lang="en-SG" smtClean="0"/>
              <a:t>‹#›</a:t>
            </a:fld>
            <a:endParaRPr lang="en-SG"/>
          </a:p>
        </p:txBody>
      </p:sp>
    </p:spTree>
    <p:extLst>
      <p:ext uri="{BB962C8B-B14F-4D97-AF65-F5344CB8AC3E}">
        <p14:creationId xmlns:p14="http://schemas.microsoft.com/office/powerpoint/2010/main" val="329990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Financial graphs on a dark display">
            <a:extLst>
              <a:ext uri="{FF2B5EF4-FFF2-40B4-BE49-F238E27FC236}">
                <a16:creationId xmlns:a16="http://schemas.microsoft.com/office/drawing/2014/main" id="{7206FDB2-D93B-F604-7BD3-D8F2CB043276}"/>
              </a:ext>
            </a:extLst>
          </p:cNvPr>
          <p:cNvPicPr>
            <a:picLocks noChangeAspect="1"/>
          </p:cNvPicPr>
          <p:nvPr/>
        </p:nvPicPr>
        <p:blipFill>
          <a:blip r:embed="rId2">
            <a:alphaModFix/>
          </a:blip>
          <a:srcRect l="1872" r="26058"/>
          <a:stretch/>
        </p:blipFill>
        <p:spPr>
          <a:xfrm>
            <a:off x="4283902" y="10"/>
            <a:ext cx="7908098" cy="6857992"/>
          </a:xfrm>
          <a:prstGeom prst="rect">
            <a:avLst/>
          </a:prstGeom>
        </p:spPr>
      </p:pic>
      <p:sp>
        <p:nvSpPr>
          <p:cNvPr id="29" name="Rectangle 28">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FA1EBB-D866-EEBA-F740-A2ABD5232D24}"/>
              </a:ext>
            </a:extLst>
          </p:cNvPr>
          <p:cNvSpPr>
            <a:spLocks noGrp="1"/>
          </p:cNvSpPr>
          <p:nvPr>
            <p:ph type="ctrTitle"/>
          </p:nvPr>
        </p:nvSpPr>
        <p:spPr>
          <a:xfrm>
            <a:off x="728663" y="1115219"/>
            <a:ext cx="5505449" cy="2387600"/>
          </a:xfrm>
        </p:spPr>
        <p:txBody>
          <a:bodyPr>
            <a:normAutofit/>
          </a:bodyPr>
          <a:lstStyle/>
          <a:p>
            <a:pPr algn="l"/>
            <a:r>
              <a:rPr lang="en-SG" sz="5000" dirty="0">
                <a:solidFill>
                  <a:schemeClr val="bg1"/>
                </a:solidFill>
              </a:rPr>
              <a:t>Analytics Platform Feb Update</a:t>
            </a:r>
          </a:p>
        </p:txBody>
      </p:sp>
      <p:sp>
        <p:nvSpPr>
          <p:cNvPr id="3" name="Subtitle 2">
            <a:extLst>
              <a:ext uri="{FF2B5EF4-FFF2-40B4-BE49-F238E27FC236}">
                <a16:creationId xmlns:a16="http://schemas.microsoft.com/office/drawing/2014/main" id="{4375D2E2-71CE-5570-0047-A69A4C3BFA7E}"/>
              </a:ext>
            </a:extLst>
          </p:cNvPr>
          <p:cNvSpPr>
            <a:spLocks noGrp="1"/>
          </p:cNvSpPr>
          <p:nvPr>
            <p:ph type="subTitle" idx="1"/>
          </p:nvPr>
        </p:nvSpPr>
        <p:spPr>
          <a:xfrm>
            <a:off x="728663" y="3902075"/>
            <a:ext cx="5998380" cy="1655762"/>
          </a:xfrm>
        </p:spPr>
        <p:txBody>
          <a:bodyPr>
            <a:normAutofit/>
          </a:bodyPr>
          <a:lstStyle/>
          <a:p>
            <a:pPr algn="l"/>
            <a:r>
              <a:rPr lang="en-SG" sz="2000" dirty="0">
                <a:solidFill>
                  <a:schemeClr val="bg1"/>
                </a:solidFill>
              </a:rPr>
              <a:t>Biometrics &amp; Profiling Centre of Expertise (B&amp;P </a:t>
            </a:r>
            <a:r>
              <a:rPr lang="en-SG" sz="2000" dirty="0" err="1">
                <a:solidFill>
                  <a:schemeClr val="bg1"/>
                </a:solidFill>
              </a:rPr>
              <a:t>CoE</a:t>
            </a:r>
            <a:r>
              <a:rPr lang="en-SG" sz="2000" dirty="0">
                <a:solidFill>
                  <a:schemeClr val="bg1"/>
                </a:solidFill>
              </a:rPr>
              <a:t>)</a:t>
            </a:r>
          </a:p>
          <a:p>
            <a:pPr algn="l"/>
            <a:r>
              <a:rPr lang="en-SG" sz="2000" dirty="0">
                <a:solidFill>
                  <a:schemeClr val="bg1"/>
                </a:solidFill>
              </a:rPr>
              <a:t>Official Closed (Non-Sensitive)</a:t>
            </a:r>
          </a:p>
          <a:p>
            <a:pPr algn="l"/>
            <a:r>
              <a:rPr lang="en-SG" sz="2000" dirty="0">
                <a:solidFill>
                  <a:schemeClr val="bg1"/>
                </a:solidFill>
              </a:rPr>
              <a:t>Correct as at 05 Feb 2025</a:t>
            </a:r>
          </a:p>
        </p:txBody>
      </p:sp>
      <p:cxnSp>
        <p:nvCxnSpPr>
          <p:cNvPr id="31" name="Straight Connector 30">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A059DD64-7D57-4BF8-8C9D-BC3B74BE4B6B}"/>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125471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71DF4-AF11-12AE-36AA-A44EB6ED6667}"/>
              </a:ext>
            </a:extLst>
          </p:cNvPr>
          <p:cNvSpPr>
            <a:spLocks noGrp="1"/>
          </p:cNvSpPr>
          <p:nvPr>
            <p:ph type="title"/>
          </p:nvPr>
        </p:nvSpPr>
        <p:spPr/>
        <p:txBody>
          <a:bodyPr/>
          <a:lstStyle/>
          <a:p>
            <a:r>
              <a:rPr lang="en-SG" dirty="0"/>
              <a:t>Timeline</a:t>
            </a:r>
          </a:p>
        </p:txBody>
      </p:sp>
      <p:sp>
        <p:nvSpPr>
          <p:cNvPr id="3" name="Content Placeholder 2">
            <a:extLst>
              <a:ext uri="{FF2B5EF4-FFF2-40B4-BE49-F238E27FC236}">
                <a16:creationId xmlns:a16="http://schemas.microsoft.com/office/drawing/2014/main" id="{D56CF463-9B7E-3B23-620A-2693502AA60E}"/>
              </a:ext>
            </a:extLst>
          </p:cNvPr>
          <p:cNvSpPr>
            <a:spLocks noGrp="1"/>
          </p:cNvSpPr>
          <p:nvPr>
            <p:ph idx="1"/>
          </p:nvPr>
        </p:nvSpPr>
        <p:spPr/>
        <p:txBody>
          <a:bodyPr/>
          <a:lstStyle/>
          <a:p>
            <a:endParaRPr lang="en-SG"/>
          </a:p>
        </p:txBody>
      </p:sp>
      <p:sp>
        <p:nvSpPr>
          <p:cNvPr id="4" name="Footer Placeholder 3">
            <a:extLst>
              <a:ext uri="{FF2B5EF4-FFF2-40B4-BE49-F238E27FC236}">
                <a16:creationId xmlns:a16="http://schemas.microsoft.com/office/drawing/2014/main" id="{B80EA3B7-DBBC-447F-1DDD-16459D2880AE}"/>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1294766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7C850-DB5F-FA7A-6861-9762790663E4}"/>
              </a:ext>
            </a:extLst>
          </p:cNvPr>
          <p:cNvSpPr>
            <a:spLocks noGrp="1"/>
          </p:cNvSpPr>
          <p:nvPr>
            <p:ph type="title"/>
          </p:nvPr>
        </p:nvSpPr>
        <p:spPr/>
        <p:txBody>
          <a:bodyPr/>
          <a:lstStyle/>
          <a:p>
            <a:r>
              <a:rPr lang="en-SG" dirty="0"/>
              <a:t>Proposed migration to Polars</a:t>
            </a:r>
          </a:p>
        </p:txBody>
      </p:sp>
      <p:sp>
        <p:nvSpPr>
          <p:cNvPr id="3" name="Content Placeholder 2">
            <a:extLst>
              <a:ext uri="{FF2B5EF4-FFF2-40B4-BE49-F238E27FC236}">
                <a16:creationId xmlns:a16="http://schemas.microsoft.com/office/drawing/2014/main" id="{4B655DB2-F4FA-A840-D02A-537CAC566BB5}"/>
              </a:ext>
            </a:extLst>
          </p:cNvPr>
          <p:cNvSpPr>
            <a:spLocks noGrp="1"/>
          </p:cNvSpPr>
          <p:nvPr>
            <p:ph idx="1"/>
          </p:nvPr>
        </p:nvSpPr>
        <p:spPr/>
        <p:txBody>
          <a:bodyPr/>
          <a:lstStyle/>
          <a:p>
            <a:r>
              <a:rPr lang="en-SG" dirty="0"/>
              <a:t>Advantages of moving to Polars</a:t>
            </a:r>
          </a:p>
          <a:p>
            <a:pPr lvl="1"/>
            <a:r>
              <a:rPr lang="en-SG" dirty="0"/>
              <a:t>Speed, a lot shorter computation time for parsing the data</a:t>
            </a:r>
          </a:p>
          <a:p>
            <a:pPr lvl="2"/>
            <a:r>
              <a:rPr lang="en-SG" dirty="0"/>
              <a:t>It will adversely speedup the computation time for parsing the information into the database</a:t>
            </a:r>
          </a:p>
          <a:p>
            <a:pPr lvl="1"/>
            <a:r>
              <a:rPr lang="en-SG" dirty="0"/>
              <a:t>RAM consumption, previously we have highlighted this issue, although it was semi-fixed by constantly deleting the variables not needed</a:t>
            </a:r>
          </a:p>
          <a:p>
            <a:pPr lvl="2"/>
            <a:r>
              <a:rPr lang="en-SG" dirty="0"/>
              <a:t>Migrating to this will provide more RAM overhead</a:t>
            </a:r>
          </a:p>
        </p:txBody>
      </p:sp>
      <p:pic>
        <p:nvPicPr>
          <p:cNvPr id="1026" name="Picture 2" descr="Pandas vs Polars - Speed Comparison">
            <a:extLst>
              <a:ext uri="{FF2B5EF4-FFF2-40B4-BE49-F238E27FC236}">
                <a16:creationId xmlns:a16="http://schemas.microsoft.com/office/drawing/2014/main" id="{06426C88-458C-27D7-5912-94E744ACAA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4410665"/>
            <a:ext cx="5038725" cy="233303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ndas vs Polars — Run-time and Memory Comparison">
            <a:extLst>
              <a:ext uri="{FF2B5EF4-FFF2-40B4-BE49-F238E27FC236}">
                <a16:creationId xmlns:a16="http://schemas.microsoft.com/office/drawing/2014/main" id="{93AAFDEC-EA5C-D16A-A236-87FCD58D7D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3064" y="4185652"/>
            <a:ext cx="2741611" cy="2558047"/>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AB805275-3896-648D-500C-51DD84C49C6C}"/>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3948445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FA075-FE60-4523-4C69-4252E63937D7}"/>
            </a:ext>
          </a:extLst>
        </p:cNvPr>
        <p:cNvGrpSpPr/>
        <p:nvPr/>
      </p:nvGrpSpPr>
      <p:grpSpPr>
        <a:xfrm>
          <a:off x="0" y="0"/>
          <a:ext cx="0" cy="0"/>
          <a:chOff x="0" y="0"/>
          <a:chExt cx="0" cy="0"/>
        </a:xfrm>
      </p:grpSpPr>
      <p:pic>
        <p:nvPicPr>
          <p:cNvPr id="1026" name="Picture 2" descr="Pandas vs Polars - Speed Comparison">
            <a:extLst>
              <a:ext uri="{FF2B5EF4-FFF2-40B4-BE49-F238E27FC236}">
                <a16:creationId xmlns:a16="http://schemas.microsoft.com/office/drawing/2014/main" id="{E8E45830-C615-FED3-A55F-86816F9F1A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016" y="2765425"/>
            <a:ext cx="8207940" cy="38004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CAFB19A-03CC-2386-BEA6-5A46BA05E9E2}"/>
              </a:ext>
            </a:extLst>
          </p:cNvPr>
          <p:cNvSpPr>
            <a:spLocks noGrp="1"/>
          </p:cNvSpPr>
          <p:nvPr>
            <p:ph type="title"/>
          </p:nvPr>
        </p:nvSpPr>
        <p:spPr/>
        <p:txBody>
          <a:bodyPr/>
          <a:lstStyle/>
          <a:p>
            <a:r>
              <a:rPr lang="en-SG" dirty="0"/>
              <a:t>Just to show some numbers and testing</a:t>
            </a:r>
          </a:p>
        </p:txBody>
      </p:sp>
      <p:pic>
        <p:nvPicPr>
          <p:cNvPr id="1028" name="Picture 4" descr="Pandas vs Polars — Run-time and Memory Comparison">
            <a:extLst>
              <a:ext uri="{FF2B5EF4-FFF2-40B4-BE49-F238E27FC236}">
                <a16:creationId xmlns:a16="http://schemas.microsoft.com/office/drawing/2014/main" id="{AD09BB19-D76E-FE6D-24C1-D2B5E2E968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6839" y="2736946"/>
            <a:ext cx="4103686" cy="382892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28576AFE-B036-FB51-71FD-837D233E3CEF}"/>
              </a:ext>
            </a:extLst>
          </p:cNvPr>
          <p:cNvSpPr>
            <a:spLocks noGrp="1"/>
          </p:cNvSpPr>
          <p:nvPr>
            <p:ph idx="1"/>
          </p:nvPr>
        </p:nvSpPr>
        <p:spPr>
          <a:xfrm>
            <a:off x="838200" y="1825625"/>
            <a:ext cx="10515600" cy="1222375"/>
          </a:xfrm>
        </p:spPr>
        <p:txBody>
          <a:bodyPr/>
          <a:lstStyle/>
          <a:p>
            <a:r>
              <a:rPr lang="en-SG" dirty="0"/>
              <a:t>Even though its just a few seconds, with the amount of data we are working, the time savings will be decent.</a:t>
            </a:r>
          </a:p>
        </p:txBody>
      </p:sp>
      <p:sp>
        <p:nvSpPr>
          <p:cNvPr id="3" name="Footer Placeholder 2">
            <a:extLst>
              <a:ext uri="{FF2B5EF4-FFF2-40B4-BE49-F238E27FC236}">
                <a16:creationId xmlns:a16="http://schemas.microsoft.com/office/drawing/2014/main" id="{61F403D3-52C1-8193-482A-66A81A8566D1}"/>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80833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64CF8-BDDA-2BC8-E90E-6E9F8436B714}"/>
              </a:ext>
            </a:extLst>
          </p:cNvPr>
          <p:cNvSpPr>
            <a:spLocks noGrp="1"/>
          </p:cNvSpPr>
          <p:nvPr>
            <p:ph type="title"/>
          </p:nvPr>
        </p:nvSpPr>
        <p:spPr/>
        <p:txBody>
          <a:bodyPr/>
          <a:lstStyle/>
          <a:p>
            <a:r>
              <a:rPr lang="en-SG" dirty="0"/>
              <a:t>Graphs that we are able to produce</a:t>
            </a:r>
          </a:p>
        </p:txBody>
      </p:sp>
      <p:sp>
        <p:nvSpPr>
          <p:cNvPr id="3" name="Content Placeholder 2">
            <a:extLst>
              <a:ext uri="{FF2B5EF4-FFF2-40B4-BE49-F238E27FC236}">
                <a16:creationId xmlns:a16="http://schemas.microsoft.com/office/drawing/2014/main" id="{D6291207-1495-F69D-5BA0-EE8276A4F776}"/>
              </a:ext>
            </a:extLst>
          </p:cNvPr>
          <p:cNvSpPr>
            <a:spLocks noGrp="1"/>
          </p:cNvSpPr>
          <p:nvPr>
            <p:ph idx="1"/>
          </p:nvPr>
        </p:nvSpPr>
        <p:spPr/>
        <p:txBody>
          <a:bodyPr/>
          <a:lstStyle/>
          <a:p>
            <a:r>
              <a:rPr lang="en-SG" dirty="0"/>
              <a:t>Quality Score distribution</a:t>
            </a:r>
          </a:p>
          <a:p>
            <a:r>
              <a:rPr lang="en-SG" dirty="0"/>
              <a:t>FAR, FRR graphs</a:t>
            </a:r>
          </a:p>
          <a:p>
            <a:endParaRPr lang="en-SG" dirty="0"/>
          </a:p>
        </p:txBody>
      </p:sp>
      <p:sp>
        <p:nvSpPr>
          <p:cNvPr id="4" name="Footer Placeholder 3">
            <a:extLst>
              <a:ext uri="{FF2B5EF4-FFF2-40B4-BE49-F238E27FC236}">
                <a16:creationId xmlns:a16="http://schemas.microsoft.com/office/drawing/2014/main" id="{E79C9BAD-76E4-0550-7F6B-387546DB47C9}"/>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2252995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2E5E-3D5E-DEE5-0167-8F8D65C1D611}"/>
              </a:ext>
            </a:extLst>
          </p:cNvPr>
          <p:cNvSpPr>
            <a:spLocks noGrp="1"/>
          </p:cNvSpPr>
          <p:nvPr>
            <p:ph type="title"/>
          </p:nvPr>
        </p:nvSpPr>
        <p:spPr/>
        <p:txBody>
          <a:bodyPr/>
          <a:lstStyle/>
          <a:p>
            <a:r>
              <a:rPr lang="en-SG" dirty="0"/>
              <a:t>Quality Score Distribution</a:t>
            </a:r>
          </a:p>
        </p:txBody>
      </p:sp>
      <p:pic>
        <p:nvPicPr>
          <p:cNvPr id="7" name="Content Placeholder 6">
            <a:extLst>
              <a:ext uri="{FF2B5EF4-FFF2-40B4-BE49-F238E27FC236}">
                <a16:creationId xmlns:a16="http://schemas.microsoft.com/office/drawing/2014/main" id="{D1791280-2B33-D902-5613-73A4A8F74420}"/>
              </a:ext>
            </a:extLst>
          </p:cNvPr>
          <p:cNvPicPr>
            <a:picLocks noGrp="1" noChangeAspect="1"/>
          </p:cNvPicPr>
          <p:nvPr>
            <p:ph idx="1"/>
          </p:nvPr>
        </p:nvPicPr>
        <p:blipFill>
          <a:blip r:embed="rId2"/>
          <a:stretch>
            <a:fillRect/>
          </a:stretch>
        </p:blipFill>
        <p:spPr>
          <a:xfrm>
            <a:off x="3448050" y="1939131"/>
            <a:ext cx="5295900" cy="4124325"/>
          </a:xfrm>
        </p:spPr>
      </p:pic>
      <p:sp>
        <p:nvSpPr>
          <p:cNvPr id="3" name="Footer Placeholder 2">
            <a:extLst>
              <a:ext uri="{FF2B5EF4-FFF2-40B4-BE49-F238E27FC236}">
                <a16:creationId xmlns:a16="http://schemas.microsoft.com/office/drawing/2014/main" id="{D05272A2-924F-6B50-91E0-E403A2EAEDAD}"/>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249167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3726C-715D-2499-2D29-878C06F4DA29}"/>
              </a:ext>
            </a:extLst>
          </p:cNvPr>
          <p:cNvSpPr>
            <a:spLocks noGrp="1"/>
          </p:cNvSpPr>
          <p:nvPr>
            <p:ph type="title"/>
          </p:nvPr>
        </p:nvSpPr>
        <p:spPr/>
        <p:txBody>
          <a:bodyPr/>
          <a:lstStyle/>
          <a:p>
            <a:r>
              <a:rPr lang="en-SG" dirty="0"/>
              <a:t>FAR and FRR Curve</a:t>
            </a:r>
          </a:p>
        </p:txBody>
      </p:sp>
      <p:pic>
        <p:nvPicPr>
          <p:cNvPr id="5" name="Content Placeholder 4">
            <a:extLst>
              <a:ext uri="{FF2B5EF4-FFF2-40B4-BE49-F238E27FC236}">
                <a16:creationId xmlns:a16="http://schemas.microsoft.com/office/drawing/2014/main" id="{6C7D02B7-2540-F1C5-5184-BB5A39EDC312}"/>
              </a:ext>
            </a:extLst>
          </p:cNvPr>
          <p:cNvPicPr>
            <a:picLocks noGrp="1" noChangeAspect="1"/>
          </p:cNvPicPr>
          <p:nvPr>
            <p:ph idx="1"/>
          </p:nvPr>
        </p:nvPicPr>
        <p:blipFill>
          <a:blip r:embed="rId2"/>
          <a:stretch>
            <a:fillRect/>
          </a:stretch>
        </p:blipFill>
        <p:spPr>
          <a:xfrm>
            <a:off x="2718723" y="1825625"/>
            <a:ext cx="6754554" cy="4351338"/>
          </a:xfrm>
        </p:spPr>
      </p:pic>
      <p:sp>
        <p:nvSpPr>
          <p:cNvPr id="3" name="Footer Placeholder 2">
            <a:extLst>
              <a:ext uri="{FF2B5EF4-FFF2-40B4-BE49-F238E27FC236}">
                <a16:creationId xmlns:a16="http://schemas.microsoft.com/office/drawing/2014/main" id="{72E80549-202D-DE8D-FB2C-BCA03D1F55B2}"/>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2993746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DFA0C-BCEE-A573-9E83-553E79535FF7}"/>
              </a:ext>
            </a:extLst>
          </p:cNvPr>
          <p:cNvSpPr>
            <a:spLocks noGrp="1"/>
          </p:cNvSpPr>
          <p:nvPr>
            <p:ph type="title"/>
          </p:nvPr>
        </p:nvSpPr>
        <p:spPr/>
        <p:txBody>
          <a:bodyPr/>
          <a:lstStyle/>
          <a:p>
            <a:r>
              <a:rPr lang="en-SG" dirty="0"/>
              <a:t>Quality Score 3D distribution</a:t>
            </a:r>
          </a:p>
        </p:txBody>
      </p:sp>
      <p:pic>
        <p:nvPicPr>
          <p:cNvPr id="5" name="Content Placeholder 4">
            <a:extLst>
              <a:ext uri="{FF2B5EF4-FFF2-40B4-BE49-F238E27FC236}">
                <a16:creationId xmlns:a16="http://schemas.microsoft.com/office/drawing/2014/main" id="{EA309D0B-180C-DA58-AE3D-0BB77745D611}"/>
              </a:ext>
            </a:extLst>
          </p:cNvPr>
          <p:cNvPicPr>
            <a:picLocks noGrp="1" noChangeAspect="1"/>
          </p:cNvPicPr>
          <p:nvPr>
            <p:ph idx="1"/>
          </p:nvPr>
        </p:nvPicPr>
        <p:blipFill>
          <a:blip r:embed="rId2"/>
          <a:stretch>
            <a:fillRect/>
          </a:stretch>
        </p:blipFill>
        <p:spPr>
          <a:xfrm>
            <a:off x="3965190" y="1825625"/>
            <a:ext cx="4261619" cy="4351338"/>
          </a:xfrm>
        </p:spPr>
      </p:pic>
      <p:sp>
        <p:nvSpPr>
          <p:cNvPr id="3" name="Footer Placeholder 2">
            <a:extLst>
              <a:ext uri="{FF2B5EF4-FFF2-40B4-BE49-F238E27FC236}">
                <a16:creationId xmlns:a16="http://schemas.microsoft.com/office/drawing/2014/main" id="{DB9615C7-06A0-D0A8-68BB-8FCF0E8192D6}"/>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593910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987A6-1741-0B8C-3307-DD88BFDEC4C0}"/>
              </a:ext>
            </a:extLst>
          </p:cNvPr>
          <p:cNvSpPr>
            <a:spLocks noGrp="1"/>
          </p:cNvSpPr>
          <p:nvPr>
            <p:ph type="title"/>
          </p:nvPr>
        </p:nvSpPr>
        <p:spPr/>
        <p:txBody>
          <a:bodyPr/>
          <a:lstStyle/>
          <a:p>
            <a:r>
              <a:rPr lang="en-SG" dirty="0"/>
              <a:t>2D Heatmap of Quality Scores</a:t>
            </a:r>
          </a:p>
        </p:txBody>
      </p:sp>
      <p:pic>
        <p:nvPicPr>
          <p:cNvPr id="5" name="Content Placeholder 4">
            <a:extLst>
              <a:ext uri="{FF2B5EF4-FFF2-40B4-BE49-F238E27FC236}">
                <a16:creationId xmlns:a16="http://schemas.microsoft.com/office/drawing/2014/main" id="{43531EC3-FEA0-E296-964E-5456496BDB56}"/>
              </a:ext>
            </a:extLst>
          </p:cNvPr>
          <p:cNvPicPr>
            <a:picLocks noGrp="1" noChangeAspect="1"/>
          </p:cNvPicPr>
          <p:nvPr>
            <p:ph idx="1"/>
          </p:nvPr>
        </p:nvPicPr>
        <p:blipFill>
          <a:blip r:embed="rId2"/>
          <a:stretch>
            <a:fillRect/>
          </a:stretch>
        </p:blipFill>
        <p:spPr>
          <a:xfrm>
            <a:off x="3055571" y="1825625"/>
            <a:ext cx="6080857" cy="4351338"/>
          </a:xfrm>
        </p:spPr>
      </p:pic>
      <p:sp>
        <p:nvSpPr>
          <p:cNvPr id="3" name="Footer Placeholder 2">
            <a:extLst>
              <a:ext uri="{FF2B5EF4-FFF2-40B4-BE49-F238E27FC236}">
                <a16:creationId xmlns:a16="http://schemas.microsoft.com/office/drawing/2014/main" id="{69CCC25C-4235-24B7-C20E-BE0D56D73173}"/>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3016956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FEA99-CF57-C501-3A3C-1F36023E7A9C}"/>
              </a:ext>
            </a:extLst>
          </p:cNvPr>
          <p:cNvSpPr>
            <a:spLocks noGrp="1"/>
          </p:cNvSpPr>
          <p:nvPr>
            <p:ph type="title"/>
          </p:nvPr>
        </p:nvSpPr>
        <p:spPr/>
        <p:txBody>
          <a:bodyPr/>
          <a:lstStyle/>
          <a:p>
            <a:r>
              <a:rPr lang="en-SG" dirty="0"/>
              <a:t>How do we use the information from Quality Scores?</a:t>
            </a:r>
          </a:p>
        </p:txBody>
      </p:sp>
      <p:sp>
        <p:nvSpPr>
          <p:cNvPr id="3" name="Content Placeholder 2">
            <a:extLst>
              <a:ext uri="{FF2B5EF4-FFF2-40B4-BE49-F238E27FC236}">
                <a16:creationId xmlns:a16="http://schemas.microsoft.com/office/drawing/2014/main" id="{E43BCB9A-E7F2-D931-47F6-CDF176E0D6E5}"/>
              </a:ext>
            </a:extLst>
          </p:cNvPr>
          <p:cNvSpPr>
            <a:spLocks noGrp="1"/>
          </p:cNvSpPr>
          <p:nvPr>
            <p:ph idx="1"/>
          </p:nvPr>
        </p:nvSpPr>
        <p:spPr/>
        <p:txBody>
          <a:bodyPr/>
          <a:lstStyle/>
          <a:p>
            <a:r>
              <a:rPr lang="en-SG" dirty="0"/>
              <a:t>Example from Patrick Grother</a:t>
            </a:r>
            <a:r>
              <a:rPr lang="en-SG" baseline="30000" dirty="0"/>
              <a:t>1</a:t>
            </a:r>
          </a:p>
          <a:p>
            <a:endParaRPr lang="en-SG" dirty="0"/>
          </a:p>
        </p:txBody>
      </p:sp>
      <p:sp>
        <p:nvSpPr>
          <p:cNvPr id="4" name="Footer Placeholder 3">
            <a:extLst>
              <a:ext uri="{FF2B5EF4-FFF2-40B4-BE49-F238E27FC236}">
                <a16:creationId xmlns:a16="http://schemas.microsoft.com/office/drawing/2014/main" id="{774F1204-5E20-3F48-A24B-BD0C1E473D61}"/>
              </a:ext>
            </a:extLst>
          </p:cNvPr>
          <p:cNvSpPr>
            <a:spLocks noGrp="1"/>
          </p:cNvSpPr>
          <p:nvPr>
            <p:ph type="ftr" sz="quarter" idx="11"/>
          </p:nvPr>
        </p:nvSpPr>
        <p:spPr/>
        <p:txBody>
          <a:bodyPr/>
          <a:lstStyle/>
          <a:p>
            <a:r>
              <a:rPr lang="en-SG" baseline="30000" dirty="0"/>
              <a:t>1</a:t>
            </a:r>
            <a:r>
              <a:rPr lang="en-SG" dirty="0"/>
              <a:t>Grother, </a:t>
            </a:r>
            <a:r>
              <a:rPr lang="en-US" dirty="0"/>
              <a:t>Performance of Biometric Sample Quality Measures</a:t>
            </a:r>
            <a:endParaRPr lang="en-SG" baseline="30000" dirty="0"/>
          </a:p>
        </p:txBody>
      </p:sp>
    </p:spTree>
    <p:extLst>
      <p:ext uri="{BB962C8B-B14F-4D97-AF65-F5344CB8AC3E}">
        <p14:creationId xmlns:p14="http://schemas.microsoft.com/office/powerpoint/2010/main" val="80944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898FF-10B1-EF7A-FB0F-99533564C350}"/>
              </a:ext>
            </a:extLst>
          </p:cNvPr>
          <p:cNvSpPr>
            <a:spLocks noGrp="1"/>
          </p:cNvSpPr>
          <p:nvPr>
            <p:ph type="title"/>
          </p:nvPr>
        </p:nvSpPr>
        <p:spPr/>
        <p:txBody>
          <a:bodyPr/>
          <a:lstStyle/>
          <a:p>
            <a:r>
              <a:rPr lang="en-SG" dirty="0"/>
              <a:t>Proposition</a:t>
            </a:r>
          </a:p>
        </p:txBody>
      </p:sp>
      <p:sp>
        <p:nvSpPr>
          <p:cNvPr id="3" name="Content Placeholder 2">
            <a:extLst>
              <a:ext uri="{FF2B5EF4-FFF2-40B4-BE49-F238E27FC236}">
                <a16:creationId xmlns:a16="http://schemas.microsoft.com/office/drawing/2014/main" id="{C4B1BC4B-F2B8-DD15-7A87-86B3A803BB9C}"/>
              </a:ext>
            </a:extLst>
          </p:cNvPr>
          <p:cNvSpPr>
            <a:spLocks noGrp="1"/>
          </p:cNvSpPr>
          <p:nvPr>
            <p:ph idx="1"/>
          </p:nvPr>
        </p:nvSpPr>
        <p:spPr/>
        <p:txBody>
          <a:bodyPr/>
          <a:lstStyle/>
          <a:p>
            <a:r>
              <a:rPr lang="en-SG" dirty="0"/>
              <a:t>We are tailing the end of the testing phase where we have tested the codes and they are working to parse M:N = 12,000</a:t>
            </a:r>
          </a:p>
          <a:p>
            <a:r>
              <a:rPr lang="en-SG" dirty="0"/>
              <a:t>The codes are ready to move into production stage</a:t>
            </a:r>
          </a:p>
          <a:p>
            <a:r>
              <a:rPr lang="en-SG" dirty="0"/>
              <a:t>However, would like to launch a separate track to migrate the code in Pandas into Polar.</a:t>
            </a:r>
          </a:p>
          <a:p>
            <a:pPr lvl="1"/>
            <a:r>
              <a:rPr lang="en-SG" dirty="0"/>
              <a:t>Therefore, there will be 2 versions of the code, one running in Pandas and the other in Polar</a:t>
            </a:r>
          </a:p>
          <a:p>
            <a:pPr lvl="1"/>
            <a:r>
              <a:rPr lang="en-SG" dirty="0"/>
              <a:t>Subsequent downstream analysis, Polars will be used instead due to speed and time.</a:t>
            </a:r>
          </a:p>
        </p:txBody>
      </p:sp>
      <p:sp>
        <p:nvSpPr>
          <p:cNvPr id="4" name="Footer Placeholder 3">
            <a:extLst>
              <a:ext uri="{FF2B5EF4-FFF2-40B4-BE49-F238E27FC236}">
                <a16:creationId xmlns:a16="http://schemas.microsoft.com/office/drawing/2014/main" id="{0B60E4FB-8A48-02A0-7962-423B82C2A0FC}"/>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624522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24FAA-E179-2B11-B8DE-BA513C082ABD}"/>
              </a:ext>
            </a:extLst>
          </p:cNvPr>
          <p:cNvSpPr>
            <a:spLocks noGrp="1"/>
          </p:cNvSpPr>
          <p:nvPr>
            <p:ph type="title"/>
          </p:nvPr>
        </p:nvSpPr>
        <p:spPr/>
        <p:txBody>
          <a:bodyPr/>
          <a:lstStyle/>
          <a:p>
            <a:r>
              <a:rPr lang="en-SG" dirty="0"/>
              <a:t>Table of Contents</a:t>
            </a:r>
          </a:p>
        </p:txBody>
      </p:sp>
      <p:sp>
        <p:nvSpPr>
          <p:cNvPr id="3" name="Content Placeholder 2">
            <a:extLst>
              <a:ext uri="{FF2B5EF4-FFF2-40B4-BE49-F238E27FC236}">
                <a16:creationId xmlns:a16="http://schemas.microsoft.com/office/drawing/2014/main" id="{633BCAE9-A0CF-94F6-34D9-C3E8FE6DBEA7}"/>
              </a:ext>
            </a:extLst>
          </p:cNvPr>
          <p:cNvSpPr>
            <a:spLocks noGrp="1"/>
          </p:cNvSpPr>
          <p:nvPr>
            <p:ph idx="1"/>
          </p:nvPr>
        </p:nvSpPr>
        <p:spPr/>
        <p:txBody>
          <a:bodyPr/>
          <a:lstStyle/>
          <a:p>
            <a:r>
              <a:rPr lang="en-SG" dirty="0"/>
              <a:t>Different folders in the Repository</a:t>
            </a:r>
          </a:p>
          <a:p>
            <a:r>
              <a:rPr lang="en-SG" dirty="0"/>
              <a:t>What has been done for the backend?</a:t>
            </a:r>
          </a:p>
          <a:p>
            <a:r>
              <a:rPr lang="en-SG" dirty="0"/>
              <a:t>Some case studies and examples for more complex</a:t>
            </a:r>
          </a:p>
          <a:p>
            <a:pPr lvl="1"/>
            <a:r>
              <a:rPr lang="en-SG" dirty="0"/>
              <a:t>Merging of 2 different data frames for storage savings</a:t>
            </a:r>
          </a:p>
          <a:p>
            <a:pPr lvl="1"/>
            <a:r>
              <a:rPr lang="en-SG" dirty="0"/>
              <a:t>Ranking for FPIR and FNIR</a:t>
            </a:r>
          </a:p>
          <a:p>
            <a:r>
              <a:rPr lang="en-SG" dirty="0"/>
              <a:t>Overall progress for 1:1</a:t>
            </a:r>
          </a:p>
          <a:p>
            <a:r>
              <a:rPr lang="en-SG" dirty="0"/>
              <a:t>Things that needs to be done for 1:1</a:t>
            </a:r>
          </a:p>
          <a:p>
            <a:r>
              <a:rPr lang="en-SG" dirty="0"/>
              <a:t>Overall timeline</a:t>
            </a:r>
          </a:p>
          <a:p>
            <a:endParaRPr lang="en-SG" dirty="0"/>
          </a:p>
          <a:p>
            <a:endParaRPr lang="en-SG" dirty="0"/>
          </a:p>
        </p:txBody>
      </p:sp>
      <p:sp>
        <p:nvSpPr>
          <p:cNvPr id="4" name="Footer Placeholder 3">
            <a:extLst>
              <a:ext uri="{FF2B5EF4-FFF2-40B4-BE49-F238E27FC236}">
                <a16:creationId xmlns:a16="http://schemas.microsoft.com/office/drawing/2014/main" id="{5CA54858-8ED6-F3C6-BCAE-772150ACA041}"/>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2004822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CEBB-0F96-5414-35D4-35E683E2BB27}"/>
              </a:ext>
            </a:extLst>
          </p:cNvPr>
          <p:cNvSpPr>
            <a:spLocks noGrp="1"/>
          </p:cNvSpPr>
          <p:nvPr>
            <p:ph type="title"/>
          </p:nvPr>
        </p:nvSpPr>
        <p:spPr/>
        <p:txBody>
          <a:bodyPr/>
          <a:lstStyle/>
          <a:p>
            <a:r>
              <a:rPr lang="en-SG"/>
              <a:t>What are the different folders for?</a:t>
            </a:r>
            <a:endParaRPr lang="en-SG" dirty="0"/>
          </a:p>
        </p:txBody>
      </p:sp>
      <p:sp>
        <p:nvSpPr>
          <p:cNvPr id="3" name="Content Placeholder 2">
            <a:extLst>
              <a:ext uri="{FF2B5EF4-FFF2-40B4-BE49-F238E27FC236}">
                <a16:creationId xmlns:a16="http://schemas.microsoft.com/office/drawing/2014/main" id="{6F218504-79E6-A624-2B58-049706BB446A}"/>
              </a:ext>
            </a:extLst>
          </p:cNvPr>
          <p:cNvSpPr>
            <a:spLocks noGrp="1"/>
          </p:cNvSpPr>
          <p:nvPr>
            <p:ph idx="1"/>
          </p:nvPr>
        </p:nvSpPr>
        <p:spPr>
          <a:xfrm>
            <a:off x="838200" y="1825624"/>
            <a:ext cx="10515600" cy="4818709"/>
          </a:xfrm>
        </p:spPr>
        <p:txBody>
          <a:bodyPr>
            <a:normAutofit fontScale="85000" lnSpcReduction="20000"/>
          </a:bodyPr>
          <a:lstStyle/>
          <a:p>
            <a:pPr marL="514350" indent="-514350">
              <a:buFont typeface="+mj-lt"/>
              <a:buAutoNum type="arabicPeriod"/>
            </a:pPr>
            <a:r>
              <a:rPr lang="en-SG" dirty="0" err="1"/>
              <a:t>Source_codes</a:t>
            </a:r>
            <a:endParaRPr lang="en-SG" dirty="0"/>
          </a:p>
          <a:p>
            <a:pPr lvl="1"/>
            <a:r>
              <a:rPr lang="en-SG" dirty="0"/>
              <a:t>These are compiled source codes that are working. (Completed Features)</a:t>
            </a:r>
          </a:p>
          <a:p>
            <a:pPr lvl="1"/>
            <a:r>
              <a:rPr lang="en-SG" dirty="0"/>
              <a:t>This can contain codes that are not being used in the production as they may still be pending implementation (see section 6)</a:t>
            </a:r>
          </a:p>
          <a:p>
            <a:pPr marL="514350" indent="-514350">
              <a:buFont typeface="+mj-lt"/>
              <a:buAutoNum type="arabicPeriod"/>
            </a:pPr>
            <a:r>
              <a:rPr lang="en-SG" dirty="0"/>
              <a:t>Resources</a:t>
            </a:r>
          </a:p>
          <a:p>
            <a:pPr lvl="1"/>
            <a:r>
              <a:rPr lang="en-SG" dirty="0"/>
              <a:t>These are resources (raw data, etc.) for the program</a:t>
            </a:r>
          </a:p>
          <a:p>
            <a:pPr marL="514350" indent="-514350">
              <a:buFont typeface="+mj-lt"/>
              <a:buAutoNum type="arabicPeriod"/>
            </a:pPr>
            <a:r>
              <a:rPr lang="en-SG" dirty="0"/>
              <a:t>Build</a:t>
            </a:r>
          </a:p>
          <a:p>
            <a:pPr lvl="1"/>
            <a:r>
              <a:rPr lang="en-SG" dirty="0"/>
              <a:t>This is for the app/docker development</a:t>
            </a:r>
          </a:p>
          <a:p>
            <a:pPr lvl="1"/>
            <a:r>
              <a:rPr lang="en-SG" dirty="0"/>
              <a:t>Tentatively putting this on hold</a:t>
            </a:r>
          </a:p>
          <a:p>
            <a:pPr marL="514350" indent="-514350">
              <a:buFont typeface="+mj-lt"/>
              <a:buAutoNum type="arabicPeriod"/>
            </a:pPr>
            <a:r>
              <a:rPr lang="en-SG" dirty="0" err="1"/>
              <a:t>Data_Cleanup</a:t>
            </a:r>
            <a:endParaRPr lang="en-SG" dirty="0"/>
          </a:p>
          <a:p>
            <a:pPr marL="971550" lvl="1" indent="-514350">
              <a:buFont typeface="+mj-lt"/>
              <a:buAutoNum type="arabicPeriod"/>
            </a:pPr>
            <a:r>
              <a:rPr lang="en-SG" dirty="0"/>
              <a:t>This portion is similar to “2.resources: just that the data was cleaned up and sorted neatly for data usage.</a:t>
            </a:r>
          </a:p>
          <a:p>
            <a:pPr marL="514350" indent="-514350">
              <a:buFont typeface="+mj-lt"/>
              <a:buAutoNum type="arabicPeriod"/>
            </a:pPr>
            <a:r>
              <a:rPr lang="en-SG" dirty="0"/>
              <a:t>Documentation</a:t>
            </a:r>
          </a:p>
          <a:p>
            <a:pPr marL="971550" lvl="1" indent="-514350">
              <a:buFont typeface="+mj-lt"/>
              <a:buAutoNum type="arabicPeriod"/>
            </a:pPr>
            <a:r>
              <a:rPr lang="en-SG" dirty="0"/>
              <a:t>This portion is just to document what was being done and for what purposes. Working to get this done so that people on board will be able to get started quickly.</a:t>
            </a:r>
          </a:p>
          <a:p>
            <a:pPr marL="0" indent="0">
              <a:buNone/>
            </a:pPr>
            <a:endParaRPr lang="en-SG" dirty="0"/>
          </a:p>
        </p:txBody>
      </p:sp>
      <p:sp>
        <p:nvSpPr>
          <p:cNvPr id="4" name="Footer Placeholder 3">
            <a:extLst>
              <a:ext uri="{FF2B5EF4-FFF2-40B4-BE49-F238E27FC236}">
                <a16:creationId xmlns:a16="http://schemas.microsoft.com/office/drawing/2014/main" id="{A4589A38-A636-2B1C-33C1-65662380BD7E}"/>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1770660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E88EF-A575-34A7-7179-F2FA04E06138}"/>
              </a:ext>
            </a:extLst>
          </p:cNvPr>
          <p:cNvSpPr>
            <a:spLocks noGrp="1"/>
          </p:cNvSpPr>
          <p:nvPr>
            <p:ph type="title"/>
          </p:nvPr>
        </p:nvSpPr>
        <p:spPr/>
        <p:txBody>
          <a:bodyPr/>
          <a:lstStyle/>
          <a:p>
            <a:r>
              <a:rPr lang="en-SG" dirty="0"/>
              <a:t>What are the different folders for? Cont.</a:t>
            </a:r>
          </a:p>
        </p:txBody>
      </p:sp>
      <p:sp>
        <p:nvSpPr>
          <p:cNvPr id="3" name="Content Placeholder 2">
            <a:extLst>
              <a:ext uri="{FF2B5EF4-FFF2-40B4-BE49-F238E27FC236}">
                <a16:creationId xmlns:a16="http://schemas.microsoft.com/office/drawing/2014/main" id="{703CA04E-64DB-0C58-6687-9FFF4FAF90FD}"/>
              </a:ext>
            </a:extLst>
          </p:cNvPr>
          <p:cNvSpPr>
            <a:spLocks noGrp="1"/>
          </p:cNvSpPr>
          <p:nvPr>
            <p:ph idx="1"/>
          </p:nvPr>
        </p:nvSpPr>
        <p:spPr/>
        <p:txBody>
          <a:bodyPr/>
          <a:lstStyle/>
          <a:p>
            <a:pPr marL="514350" indent="-514350">
              <a:buFont typeface="+mj-lt"/>
              <a:buAutoNum type="arabicPeriod" startAt="6"/>
            </a:pPr>
            <a:r>
              <a:rPr lang="en-SG" dirty="0" err="1"/>
              <a:t>Test_scripts</a:t>
            </a:r>
            <a:endParaRPr lang="en-SG" dirty="0"/>
          </a:p>
          <a:p>
            <a:pPr marL="971550" lvl="1" indent="-514350">
              <a:buFont typeface="+mj-lt"/>
              <a:buAutoNum type="arabicPeriod"/>
            </a:pPr>
            <a:r>
              <a:rPr lang="en-SG" dirty="0"/>
              <a:t>This section is for you to try out scripts like a working copy of a function, it may or may not necessarily work</a:t>
            </a:r>
          </a:p>
          <a:p>
            <a:pPr marL="971550" lvl="1" indent="-514350">
              <a:buFont typeface="+mj-lt"/>
              <a:buAutoNum type="arabicPeriod"/>
            </a:pPr>
            <a:r>
              <a:rPr lang="en-SG" dirty="0"/>
              <a:t>There is a subsection called implementation, this is for you to merge the test scripts and modify it to work the way you want it to work</a:t>
            </a:r>
          </a:p>
          <a:p>
            <a:pPr marL="514350" indent="-514350">
              <a:buFont typeface="+mj-lt"/>
              <a:buAutoNum type="arabicPeriod" startAt="6"/>
            </a:pPr>
            <a:r>
              <a:rPr lang="en-SG" dirty="0"/>
              <a:t>Production</a:t>
            </a:r>
          </a:p>
          <a:p>
            <a:pPr marL="971550" lvl="1" indent="-514350">
              <a:buFont typeface="+mj-lt"/>
              <a:buAutoNum type="arabicPeriod"/>
            </a:pPr>
            <a:r>
              <a:rPr lang="en-SG" dirty="0"/>
              <a:t>These are the finalized codes that will be working</a:t>
            </a:r>
          </a:p>
        </p:txBody>
      </p:sp>
      <p:sp>
        <p:nvSpPr>
          <p:cNvPr id="4" name="Footer Placeholder 3">
            <a:extLst>
              <a:ext uri="{FF2B5EF4-FFF2-40B4-BE49-F238E27FC236}">
                <a16:creationId xmlns:a16="http://schemas.microsoft.com/office/drawing/2014/main" id="{9C7C111A-8E17-A576-D24A-80F7A3AE8635}"/>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531043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8637D-5652-0314-76A3-DCB8812481F4}"/>
              </a:ext>
            </a:extLst>
          </p:cNvPr>
          <p:cNvSpPr>
            <a:spLocks noGrp="1"/>
          </p:cNvSpPr>
          <p:nvPr>
            <p:ph type="title"/>
          </p:nvPr>
        </p:nvSpPr>
        <p:spPr/>
        <p:txBody>
          <a:bodyPr/>
          <a:lstStyle/>
          <a:p>
            <a:r>
              <a:rPr lang="en-SG" dirty="0"/>
              <a:t>What was being done at the backend?</a:t>
            </a:r>
          </a:p>
        </p:txBody>
      </p:sp>
      <p:sp>
        <p:nvSpPr>
          <p:cNvPr id="3" name="Content Placeholder 2">
            <a:extLst>
              <a:ext uri="{FF2B5EF4-FFF2-40B4-BE49-F238E27FC236}">
                <a16:creationId xmlns:a16="http://schemas.microsoft.com/office/drawing/2014/main" id="{A051BCDC-A88A-EBBB-A1A7-75797CE42FC3}"/>
              </a:ext>
            </a:extLst>
          </p:cNvPr>
          <p:cNvSpPr>
            <a:spLocks noGrp="1"/>
          </p:cNvSpPr>
          <p:nvPr>
            <p:ph idx="1"/>
          </p:nvPr>
        </p:nvSpPr>
        <p:spPr/>
        <p:txBody>
          <a:bodyPr/>
          <a:lstStyle/>
          <a:p>
            <a:pPr marL="514350" indent="-514350">
              <a:buFont typeface="+mj-lt"/>
              <a:buAutoNum type="arabicPeriod"/>
            </a:pPr>
            <a:r>
              <a:rPr lang="en-SG" dirty="0"/>
              <a:t>Accessing the database through a password.txt file</a:t>
            </a:r>
          </a:p>
          <a:p>
            <a:pPr marL="514350" indent="-514350">
              <a:buFont typeface="+mj-lt"/>
              <a:buAutoNum type="arabicPeriod"/>
            </a:pPr>
            <a:r>
              <a:rPr lang="en-SG" dirty="0"/>
              <a:t>Parsing the information for ID1, ID2 and matching score</a:t>
            </a:r>
          </a:p>
          <a:p>
            <a:pPr marL="514350" indent="-514350">
              <a:buFont typeface="+mj-lt"/>
              <a:buAutoNum type="arabicPeriod"/>
            </a:pPr>
            <a:r>
              <a:rPr lang="en-SG" dirty="0"/>
              <a:t>Moving the parsed information into a database table</a:t>
            </a:r>
          </a:p>
          <a:p>
            <a:pPr marL="514350" indent="-514350">
              <a:buFont typeface="+mj-lt"/>
              <a:buAutoNum type="arabicPeriod"/>
            </a:pPr>
            <a:r>
              <a:rPr lang="en-SG" b="1" dirty="0"/>
              <a:t>Merging the data using matching score and demographic reference table</a:t>
            </a:r>
          </a:p>
          <a:p>
            <a:pPr marL="514350" indent="-514350">
              <a:buFont typeface="+mj-lt"/>
              <a:buAutoNum type="arabicPeriod"/>
            </a:pPr>
            <a:r>
              <a:rPr lang="en-SG" dirty="0"/>
              <a:t>Computing ranking based on the threshold</a:t>
            </a:r>
          </a:p>
          <a:p>
            <a:pPr marL="514350" indent="-514350">
              <a:buFont typeface="+mj-lt"/>
              <a:buAutoNum type="arabicPeriod"/>
            </a:pPr>
            <a:r>
              <a:rPr lang="en-SG" dirty="0"/>
              <a:t>Filtering</a:t>
            </a:r>
          </a:p>
          <a:p>
            <a:pPr lvl="1"/>
            <a:r>
              <a:rPr lang="en-SG" dirty="0"/>
              <a:t>Filter based on ID range or Matching score range or specific case</a:t>
            </a:r>
          </a:p>
        </p:txBody>
      </p:sp>
      <p:sp>
        <p:nvSpPr>
          <p:cNvPr id="4" name="Footer Placeholder 3">
            <a:extLst>
              <a:ext uri="{FF2B5EF4-FFF2-40B4-BE49-F238E27FC236}">
                <a16:creationId xmlns:a16="http://schemas.microsoft.com/office/drawing/2014/main" id="{7DD9C4DC-6414-DC77-1C53-9F10A79736A1}"/>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1045276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596B0-28F7-AE3E-D639-3A7A40176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D1012-5DE5-9CF0-78CC-634F42D4EB4C}"/>
              </a:ext>
            </a:extLst>
          </p:cNvPr>
          <p:cNvSpPr>
            <a:spLocks noGrp="1"/>
          </p:cNvSpPr>
          <p:nvPr>
            <p:ph type="title"/>
          </p:nvPr>
        </p:nvSpPr>
        <p:spPr/>
        <p:txBody>
          <a:bodyPr>
            <a:normAutofit/>
          </a:bodyPr>
          <a:lstStyle/>
          <a:p>
            <a:r>
              <a:rPr lang="en-SG" dirty="0"/>
              <a:t>4. Merging the data using matching score and demographic reference table</a:t>
            </a:r>
          </a:p>
        </p:txBody>
      </p:sp>
      <p:sp>
        <p:nvSpPr>
          <p:cNvPr id="3" name="Content Placeholder 2">
            <a:extLst>
              <a:ext uri="{FF2B5EF4-FFF2-40B4-BE49-F238E27FC236}">
                <a16:creationId xmlns:a16="http://schemas.microsoft.com/office/drawing/2014/main" id="{B4D332D3-9F65-2C84-C4D2-49BEEB874692}"/>
              </a:ext>
            </a:extLst>
          </p:cNvPr>
          <p:cNvSpPr>
            <a:spLocks noGrp="1"/>
          </p:cNvSpPr>
          <p:nvPr>
            <p:ph idx="1"/>
          </p:nvPr>
        </p:nvSpPr>
        <p:spPr>
          <a:xfrm>
            <a:off x="838200" y="1825625"/>
            <a:ext cx="10515600" cy="2213358"/>
          </a:xfrm>
        </p:spPr>
        <p:txBody>
          <a:bodyPr>
            <a:normAutofit/>
          </a:bodyPr>
          <a:lstStyle/>
          <a:p>
            <a:pPr marL="0" indent="0">
              <a:buNone/>
            </a:pPr>
            <a:r>
              <a:rPr lang="en-SG" sz="2000" dirty="0"/>
              <a:t>Currently, we have to script to merge the information from the 2 tables</a:t>
            </a:r>
          </a:p>
          <a:p>
            <a:pPr lvl="1"/>
            <a:r>
              <a:rPr lang="en-SG" sz="1800" dirty="0"/>
              <a:t>A: Matching score without demographics</a:t>
            </a:r>
          </a:p>
          <a:p>
            <a:pPr lvl="1"/>
            <a:r>
              <a:rPr lang="en-SG" sz="1800" dirty="0"/>
              <a:t>B: Demographic information from the individuals</a:t>
            </a:r>
          </a:p>
          <a:p>
            <a:pPr marL="0" indent="0">
              <a:buNone/>
            </a:pPr>
            <a:r>
              <a:rPr lang="en-SG" sz="2000" dirty="0"/>
              <a:t>Previously, we have used mock data, ZZZZ matching score, etc.</a:t>
            </a:r>
          </a:p>
          <a:p>
            <a:pPr marL="0" indent="0">
              <a:buNone/>
            </a:pPr>
            <a:r>
              <a:rPr lang="en-SG" sz="2000" dirty="0"/>
              <a:t>With open source data and NEC’s result string, we are able validate that our code works</a:t>
            </a:r>
          </a:p>
        </p:txBody>
      </p:sp>
      <p:graphicFrame>
        <p:nvGraphicFramePr>
          <p:cNvPr id="5" name="Table 4">
            <a:extLst>
              <a:ext uri="{FF2B5EF4-FFF2-40B4-BE49-F238E27FC236}">
                <a16:creationId xmlns:a16="http://schemas.microsoft.com/office/drawing/2014/main" id="{B3F5DEF0-B391-D4B8-DFF0-5337AD78689F}"/>
              </a:ext>
            </a:extLst>
          </p:cNvPr>
          <p:cNvGraphicFramePr>
            <a:graphicFrameLocks noGrp="1"/>
          </p:cNvGraphicFramePr>
          <p:nvPr>
            <p:extLst>
              <p:ext uri="{D42A27DB-BD31-4B8C-83A1-F6EECF244321}">
                <p14:modId xmlns:p14="http://schemas.microsoft.com/office/powerpoint/2010/main" val="2763747253"/>
              </p:ext>
            </p:extLst>
          </p:nvPr>
        </p:nvGraphicFramePr>
        <p:xfrm>
          <a:off x="529444" y="4081160"/>
          <a:ext cx="3279790" cy="1854200"/>
        </p:xfrm>
        <a:graphic>
          <a:graphicData uri="http://schemas.openxmlformats.org/drawingml/2006/table">
            <a:tbl>
              <a:tblPr firstRow="1" bandRow="1">
                <a:tableStyleId>{5C22544A-7EE6-4342-B048-85BDC9FD1C3A}</a:tableStyleId>
              </a:tblPr>
              <a:tblGrid>
                <a:gridCol w="674439">
                  <a:extLst>
                    <a:ext uri="{9D8B030D-6E8A-4147-A177-3AD203B41FA5}">
                      <a16:colId xmlns:a16="http://schemas.microsoft.com/office/drawing/2014/main" val="4210915347"/>
                    </a:ext>
                  </a:extLst>
                </a:gridCol>
                <a:gridCol w="730601">
                  <a:extLst>
                    <a:ext uri="{9D8B030D-6E8A-4147-A177-3AD203B41FA5}">
                      <a16:colId xmlns:a16="http://schemas.microsoft.com/office/drawing/2014/main" val="469551058"/>
                    </a:ext>
                  </a:extLst>
                </a:gridCol>
                <a:gridCol w="1874750">
                  <a:extLst>
                    <a:ext uri="{9D8B030D-6E8A-4147-A177-3AD203B41FA5}">
                      <a16:colId xmlns:a16="http://schemas.microsoft.com/office/drawing/2014/main" val="1460576912"/>
                    </a:ext>
                  </a:extLst>
                </a:gridCol>
              </a:tblGrid>
              <a:tr h="370840">
                <a:tc>
                  <a:txBody>
                    <a:bodyPr/>
                    <a:lstStyle/>
                    <a:p>
                      <a:r>
                        <a:rPr lang="en-SG" dirty="0"/>
                        <a:t>ID1</a:t>
                      </a:r>
                    </a:p>
                  </a:txBody>
                  <a:tcPr/>
                </a:tc>
                <a:tc>
                  <a:txBody>
                    <a:bodyPr/>
                    <a:lstStyle/>
                    <a:p>
                      <a:r>
                        <a:rPr lang="en-SG" dirty="0"/>
                        <a:t>ID2</a:t>
                      </a:r>
                    </a:p>
                  </a:txBody>
                  <a:tcPr/>
                </a:tc>
                <a:tc>
                  <a:txBody>
                    <a:bodyPr/>
                    <a:lstStyle/>
                    <a:p>
                      <a:r>
                        <a:rPr lang="en-SG" dirty="0"/>
                        <a:t>Matching Score</a:t>
                      </a:r>
                    </a:p>
                  </a:txBody>
                  <a:tcPr/>
                </a:tc>
                <a:extLst>
                  <a:ext uri="{0D108BD9-81ED-4DB2-BD59-A6C34878D82A}">
                    <a16:rowId xmlns:a16="http://schemas.microsoft.com/office/drawing/2014/main" val="3584907699"/>
                  </a:ext>
                </a:extLst>
              </a:tr>
              <a:tr h="370840">
                <a:tc>
                  <a:txBody>
                    <a:bodyPr/>
                    <a:lstStyle/>
                    <a:p>
                      <a:endParaRPr lang="en-SG"/>
                    </a:p>
                  </a:txBody>
                  <a:tcPr/>
                </a:tc>
                <a:tc>
                  <a:txBody>
                    <a:bodyPr/>
                    <a:lstStyle/>
                    <a:p>
                      <a:endParaRPr lang="en-SG" dirty="0"/>
                    </a:p>
                  </a:txBody>
                  <a:tcPr/>
                </a:tc>
                <a:tc>
                  <a:txBody>
                    <a:bodyPr/>
                    <a:lstStyle/>
                    <a:p>
                      <a:endParaRPr lang="en-SG"/>
                    </a:p>
                  </a:txBody>
                  <a:tcPr/>
                </a:tc>
                <a:extLst>
                  <a:ext uri="{0D108BD9-81ED-4DB2-BD59-A6C34878D82A}">
                    <a16:rowId xmlns:a16="http://schemas.microsoft.com/office/drawing/2014/main" val="727328968"/>
                  </a:ext>
                </a:extLst>
              </a:tr>
              <a:tr h="370840">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2416787768"/>
                  </a:ext>
                </a:extLst>
              </a:tr>
              <a:tr h="370840">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1206568651"/>
                  </a:ext>
                </a:extLst>
              </a:tr>
              <a:tr h="370840">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2314743117"/>
                  </a:ext>
                </a:extLst>
              </a:tr>
            </a:tbl>
          </a:graphicData>
        </a:graphic>
      </p:graphicFrame>
      <p:graphicFrame>
        <p:nvGraphicFramePr>
          <p:cNvPr id="6" name="Table 5">
            <a:extLst>
              <a:ext uri="{FF2B5EF4-FFF2-40B4-BE49-F238E27FC236}">
                <a16:creationId xmlns:a16="http://schemas.microsoft.com/office/drawing/2014/main" id="{5D7B03F6-FDAA-52F7-736B-E0985F666D8F}"/>
              </a:ext>
            </a:extLst>
          </p:cNvPr>
          <p:cNvGraphicFramePr>
            <a:graphicFrameLocks noGrp="1"/>
          </p:cNvGraphicFramePr>
          <p:nvPr>
            <p:extLst>
              <p:ext uri="{D42A27DB-BD31-4B8C-83A1-F6EECF244321}">
                <p14:modId xmlns:p14="http://schemas.microsoft.com/office/powerpoint/2010/main" val="2202528102"/>
              </p:ext>
            </p:extLst>
          </p:nvPr>
        </p:nvGraphicFramePr>
        <p:xfrm>
          <a:off x="5529543" y="4081160"/>
          <a:ext cx="5939514" cy="1828800"/>
        </p:xfrm>
        <a:graphic>
          <a:graphicData uri="http://schemas.openxmlformats.org/drawingml/2006/table">
            <a:tbl>
              <a:tblPr firstRow="1" bandRow="1">
                <a:tableStyleId>{5C22544A-7EE6-4342-B048-85BDC9FD1C3A}</a:tableStyleId>
              </a:tblPr>
              <a:tblGrid>
                <a:gridCol w="636913">
                  <a:extLst>
                    <a:ext uri="{9D8B030D-6E8A-4147-A177-3AD203B41FA5}">
                      <a16:colId xmlns:a16="http://schemas.microsoft.com/office/drawing/2014/main" val="4210915347"/>
                    </a:ext>
                  </a:extLst>
                </a:gridCol>
                <a:gridCol w="661677">
                  <a:extLst>
                    <a:ext uri="{9D8B030D-6E8A-4147-A177-3AD203B41FA5}">
                      <a16:colId xmlns:a16="http://schemas.microsoft.com/office/drawing/2014/main" val="469551058"/>
                    </a:ext>
                  </a:extLst>
                </a:gridCol>
                <a:gridCol w="1640406">
                  <a:extLst>
                    <a:ext uri="{9D8B030D-6E8A-4147-A177-3AD203B41FA5}">
                      <a16:colId xmlns:a16="http://schemas.microsoft.com/office/drawing/2014/main" val="1460576912"/>
                    </a:ext>
                  </a:extLst>
                </a:gridCol>
                <a:gridCol w="1911509">
                  <a:extLst>
                    <a:ext uri="{9D8B030D-6E8A-4147-A177-3AD203B41FA5}">
                      <a16:colId xmlns:a16="http://schemas.microsoft.com/office/drawing/2014/main" val="171772543"/>
                    </a:ext>
                  </a:extLst>
                </a:gridCol>
                <a:gridCol w="1089009">
                  <a:extLst>
                    <a:ext uri="{9D8B030D-6E8A-4147-A177-3AD203B41FA5}">
                      <a16:colId xmlns:a16="http://schemas.microsoft.com/office/drawing/2014/main" val="2104599858"/>
                    </a:ext>
                  </a:extLst>
                </a:gridCol>
              </a:tblGrid>
              <a:tr h="0">
                <a:tc>
                  <a:txBody>
                    <a:bodyPr/>
                    <a:lstStyle/>
                    <a:p>
                      <a:r>
                        <a:rPr lang="en-SG" dirty="0"/>
                        <a:t>ID</a:t>
                      </a:r>
                    </a:p>
                  </a:txBody>
                  <a:tcPr/>
                </a:tc>
                <a:tc>
                  <a:txBody>
                    <a:bodyPr/>
                    <a:lstStyle/>
                    <a:p>
                      <a:r>
                        <a:rPr lang="en-SG" dirty="0"/>
                        <a:t>Age</a:t>
                      </a:r>
                    </a:p>
                  </a:txBody>
                  <a:tcPr/>
                </a:tc>
                <a:tc>
                  <a:txBody>
                    <a:bodyPr/>
                    <a:lstStyle/>
                    <a:p>
                      <a:r>
                        <a:rPr lang="en-SG" dirty="0"/>
                        <a:t>Gender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Country Code</a:t>
                      </a:r>
                    </a:p>
                  </a:txBody>
                  <a:tcPr/>
                </a:tc>
                <a:tc>
                  <a:txBody>
                    <a:bodyPr/>
                    <a:lstStyle/>
                    <a:p>
                      <a:r>
                        <a:rPr lang="en-SG" dirty="0"/>
                        <a:t>Race*</a:t>
                      </a:r>
                    </a:p>
                  </a:txBody>
                  <a:tcPr/>
                </a:tc>
                <a:extLst>
                  <a:ext uri="{0D108BD9-81ED-4DB2-BD59-A6C34878D82A}">
                    <a16:rowId xmlns:a16="http://schemas.microsoft.com/office/drawing/2014/main" val="3584907699"/>
                  </a:ext>
                </a:extLst>
              </a:tr>
              <a:tr h="314425">
                <a:tc>
                  <a:txBody>
                    <a:bodyPr/>
                    <a:lstStyle/>
                    <a:p>
                      <a:endParaRPr lang="en-SG"/>
                    </a:p>
                  </a:txBody>
                  <a:tcPr/>
                </a:tc>
                <a:tc>
                  <a:txBody>
                    <a:bodyPr/>
                    <a:lstStyle/>
                    <a:p>
                      <a:endParaRPr lang="en-SG" dirty="0"/>
                    </a:p>
                  </a:txBody>
                  <a:tcPr/>
                </a:tc>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727328968"/>
                  </a:ext>
                </a:extLst>
              </a:tr>
              <a:tr h="314425">
                <a:tc>
                  <a:txBody>
                    <a:bodyPr/>
                    <a:lstStyle/>
                    <a:p>
                      <a:endParaRPr lang="en-SG"/>
                    </a:p>
                  </a:txBody>
                  <a:tcPr/>
                </a:tc>
                <a:tc>
                  <a:txBody>
                    <a:bodyPr/>
                    <a:lstStyle/>
                    <a:p>
                      <a:endParaRPr lang="en-SG"/>
                    </a:p>
                  </a:txBody>
                  <a:tcPr/>
                </a:tc>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2416787768"/>
                  </a:ext>
                </a:extLst>
              </a:tr>
              <a:tr h="314425">
                <a:tc>
                  <a:txBody>
                    <a:bodyPr/>
                    <a:lstStyle/>
                    <a:p>
                      <a:endParaRPr lang="en-SG"/>
                    </a:p>
                  </a:txBody>
                  <a:tcPr/>
                </a:tc>
                <a:tc>
                  <a:txBody>
                    <a:bodyPr/>
                    <a:lstStyle/>
                    <a:p>
                      <a:endParaRPr lang="en-SG"/>
                    </a:p>
                  </a:txBody>
                  <a:tcPr/>
                </a:tc>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1206568651"/>
                  </a:ext>
                </a:extLst>
              </a:tr>
              <a:tr h="314425">
                <a:tc>
                  <a:txBody>
                    <a:bodyPr/>
                    <a:lstStyle/>
                    <a:p>
                      <a:endParaRPr lang="en-SG"/>
                    </a:p>
                  </a:txBody>
                  <a:tcPr/>
                </a:tc>
                <a:tc>
                  <a:txBody>
                    <a:bodyPr/>
                    <a:lstStyle/>
                    <a:p>
                      <a:endParaRPr lang="en-SG"/>
                    </a:p>
                  </a:txBody>
                  <a:tcPr/>
                </a:tc>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2314743117"/>
                  </a:ext>
                </a:extLst>
              </a:tr>
            </a:tbl>
          </a:graphicData>
        </a:graphic>
      </p:graphicFrame>
      <p:sp>
        <p:nvSpPr>
          <p:cNvPr id="7" name="TextBox 6">
            <a:extLst>
              <a:ext uri="{FF2B5EF4-FFF2-40B4-BE49-F238E27FC236}">
                <a16:creationId xmlns:a16="http://schemas.microsoft.com/office/drawing/2014/main" id="{3EB61AE5-AE23-4CFC-9614-629CF1E2B5CA}"/>
              </a:ext>
            </a:extLst>
          </p:cNvPr>
          <p:cNvSpPr txBox="1"/>
          <p:nvPr/>
        </p:nvSpPr>
        <p:spPr>
          <a:xfrm>
            <a:off x="1070629" y="6235381"/>
            <a:ext cx="7167731" cy="369332"/>
          </a:xfrm>
          <a:prstGeom prst="rect">
            <a:avLst/>
          </a:prstGeom>
          <a:noFill/>
        </p:spPr>
        <p:txBody>
          <a:bodyPr wrap="none" rtlCol="0">
            <a:spAutoFit/>
          </a:bodyPr>
          <a:lstStyle/>
          <a:p>
            <a:r>
              <a:rPr lang="en-SG" dirty="0"/>
              <a:t>*Race will not be collected, leaving it here due to code pending change</a:t>
            </a:r>
          </a:p>
        </p:txBody>
      </p:sp>
      <p:sp>
        <p:nvSpPr>
          <p:cNvPr id="4" name="Footer Placeholder 3">
            <a:extLst>
              <a:ext uri="{FF2B5EF4-FFF2-40B4-BE49-F238E27FC236}">
                <a16:creationId xmlns:a16="http://schemas.microsoft.com/office/drawing/2014/main" id="{CE61EC42-F4FA-FE88-C731-3E6794D4EBF7}"/>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3683549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E17191A-66FB-A060-6FFD-EE722DD1E27C}"/>
              </a:ext>
            </a:extLst>
          </p:cNvPr>
          <p:cNvPicPr>
            <a:picLocks noChangeAspect="1"/>
          </p:cNvPicPr>
          <p:nvPr/>
        </p:nvPicPr>
        <p:blipFill>
          <a:blip r:embed="rId2"/>
          <a:stretch>
            <a:fillRect/>
          </a:stretch>
        </p:blipFill>
        <p:spPr>
          <a:xfrm>
            <a:off x="1441172" y="211034"/>
            <a:ext cx="2077280" cy="3039108"/>
          </a:xfrm>
          <a:prstGeom prst="rect">
            <a:avLst/>
          </a:prstGeom>
        </p:spPr>
      </p:pic>
      <p:pic>
        <p:nvPicPr>
          <p:cNvPr id="13" name="Picture 12">
            <a:extLst>
              <a:ext uri="{FF2B5EF4-FFF2-40B4-BE49-F238E27FC236}">
                <a16:creationId xmlns:a16="http://schemas.microsoft.com/office/drawing/2014/main" id="{3FCCD098-78DC-EEE0-49CD-CFE9E7367B7F}"/>
              </a:ext>
            </a:extLst>
          </p:cNvPr>
          <p:cNvPicPr>
            <a:picLocks noChangeAspect="1"/>
          </p:cNvPicPr>
          <p:nvPr/>
        </p:nvPicPr>
        <p:blipFill>
          <a:blip r:embed="rId3"/>
          <a:stretch>
            <a:fillRect/>
          </a:stretch>
        </p:blipFill>
        <p:spPr>
          <a:xfrm>
            <a:off x="6615524" y="0"/>
            <a:ext cx="3372142" cy="3429297"/>
          </a:xfrm>
          <a:prstGeom prst="rect">
            <a:avLst/>
          </a:prstGeom>
        </p:spPr>
      </p:pic>
      <p:pic>
        <p:nvPicPr>
          <p:cNvPr id="15" name="Picture 14">
            <a:extLst>
              <a:ext uri="{FF2B5EF4-FFF2-40B4-BE49-F238E27FC236}">
                <a16:creationId xmlns:a16="http://schemas.microsoft.com/office/drawing/2014/main" id="{192E70C4-0B73-05DC-9094-5AA15D4573D8}"/>
              </a:ext>
            </a:extLst>
          </p:cNvPr>
          <p:cNvPicPr>
            <a:picLocks noChangeAspect="1"/>
          </p:cNvPicPr>
          <p:nvPr/>
        </p:nvPicPr>
        <p:blipFill>
          <a:blip r:embed="rId4"/>
          <a:stretch>
            <a:fillRect/>
          </a:stretch>
        </p:blipFill>
        <p:spPr>
          <a:xfrm>
            <a:off x="1761287" y="3519697"/>
            <a:ext cx="7864762" cy="3090820"/>
          </a:xfrm>
          <a:prstGeom prst="rect">
            <a:avLst/>
          </a:prstGeom>
        </p:spPr>
      </p:pic>
      <p:sp>
        <p:nvSpPr>
          <p:cNvPr id="16" name="Arrow: Right 15">
            <a:extLst>
              <a:ext uri="{FF2B5EF4-FFF2-40B4-BE49-F238E27FC236}">
                <a16:creationId xmlns:a16="http://schemas.microsoft.com/office/drawing/2014/main" id="{BF79E81D-332E-B325-9157-18BA001ACC1E}"/>
              </a:ext>
            </a:extLst>
          </p:cNvPr>
          <p:cNvSpPr/>
          <p:nvPr/>
        </p:nvSpPr>
        <p:spPr>
          <a:xfrm rot="4043962">
            <a:off x="2526568" y="3385584"/>
            <a:ext cx="1012388" cy="2682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Arrow: Right 17">
            <a:extLst>
              <a:ext uri="{FF2B5EF4-FFF2-40B4-BE49-F238E27FC236}">
                <a16:creationId xmlns:a16="http://schemas.microsoft.com/office/drawing/2014/main" id="{C876FF2D-CC15-5519-7302-74422D5A0686}"/>
              </a:ext>
            </a:extLst>
          </p:cNvPr>
          <p:cNvSpPr/>
          <p:nvPr/>
        </p:nvSpPr>
        <p:spPr>
          <a:xfrm rot="6849480">
            <a:off x="7585637" y="3444944"/>
            <a:ext cx="1012388" cy="2682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Arrow: Left-Right 18">
            <a:extLst>
              <a:ext uri="{FF2B5EF4-FFF2-40B4-BE49-F238E27FC236}">
                <a16:creationId xmlns:a16="http://schemas.microsoft.com/office/drawing/2014/main" id="{933FC914-FCB5-8BA7-EDB1-5D941108E9C5}"/>
              </a:ext>
            </a:extLst>
          </p:cNvPr>
          <p:cNvSpPr/>
          <p:nvPr/>
        </p:nvSpPr>
        <p:spPr>
          <a:xfrm>
            <a:off x="3556219" y="1388262"/>
            <a:ext cx="2996215" cy="68465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Footer Placeholder 1">
            <a:extLst>
              <a:ext uri="{FF2B5EF4-FFF2-40B4-BE49-F238E27FC236}">
                <a16:creationId xmlns:a16="http://schemas.microsoft.com/office/drawing/2014/main" id="{48FB8540-188E-15ED-E080-FF10E7BDF1A2}"/>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1031480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D87B4-C373-AB39-1784-EE62A2E5BCD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97DF4B1-AF50-0A13-CCD8-B45DD814DB81}"/>
              </a:ext>
            </a:extLst>
          </p:cNvPr>
          <p:cNvPicPr>
            <a:picLocks noChangeAspect="1"/>
          </p:cNvPicPr>
          <p:nvPr/>
        </p:nvPicPr>
        <p:blipFill>
          <a:blip r:embed="rId2"/>
          <a:stretch>
            <a:fillRect/>
          </a:stretch>
        </p:blipFill>
        <p:spPr>
          <a:xfrm>
            <a:off x="6552434" y="-97306"/>
            <a:ext cx="2674852" cy="3486452"/>
          </a:xfrm>
          <a:prstGeom prst="rect">
            <a:avLst/>
          </a:prstGeom>
        </p:spPr>
      </p:pic>
      <p:pic>
        <p:nvPicPr>
          <p:cNvPr id="5" name="Picture 4">
            <a:extLst>
              <a:ext uri="{FF2B5EF4-FFF2-40B4-BE49-F238E27FC236}">
                <a16:creationId xmlns:a16="http://schemas.microsoft.com/office/drawing/2014/main" id="{783044C1-1A21-9BA1-1D86-98BE7B2EC308}"/>
              </a:ext>
            </a:extLst>
          </p:cNvPr>
          <p:cNvPicPr>
            <a:picLocks noChangeAspect="1"/>
          </p:cNvPicPr>
          <p:nvPr/>
        </p:nvPicPr>
        <p:blipFill>
          <a:blip r:embed="rId3"/>
          <a:stretch>
            <a:fillRect/>
          </a:stretch>
        </p:blipFill>
        <p:spPr>
          <a:xfrm>
            <a:off x="430877" y="130707"/>
            <a:ext cx="3657917" cy="3448349"/>
          </a:xfrm>
          <a:prstGeom prst="rect">
            <a:avLst/>
          </a:prstGeom>
        </p:spPr>
      </p:pic>
      <p:sp>
        <p:nvSpPr>
          <p:cNvPr id="16" name="Arrow: Right 15">
            <a:extLst>
              <a:ext uri="{FF2B5EF4-FFF2-40B4-BE49-F238E27FC236}">
                <a16:creationId xmlns:a16="http://schemas.microsoft.com/office/drawing/2014/main" id="{D6B16C0C-CC0B-B939-50CF-67BBEED57D8F}"/>
              </a:ext>
            </a:extLst>
          </p:cNvPr>
          <p:cNvSpPr/>
          <p:nvPr/>
        </p:nvSpPr>
        <p:spPr>
          <a:xfrm rot="4043962">
            <a:off x="2526568" y="3385584"/>
            <a:ext cx="1012388" cy="2682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Arrow: Right 17">
            <a:extLst>
              <a:ext uri="{FF2B5EF4-FFF2-40B4-BE49-F238E27FC236}">
                <a16:creationId xmlns:a16="http://schemas.microsoft.com/office/drawing/2014/main" id="{75C54830-BE95-E2C3-77D0-B548FEFB82EC}"/>
              </a:ext>
            </a:extLst>
          </p:cNvPr>
          <p:cNvSpPr/>
          <p:nvPr/>
        </p:nvSpPr>
        <p:spPr>
          <a:xfrm rot="6849480">
            <a:off x="7585637" y="3444944"/>
            <a:ext cx="1012388" cy="2682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Arrow: Left-Right 18">
            <a:extLst>
              <a:ext uri="{FF2B5EF4-FFF2-40B4-BE49-F238E27FC236}">
                <a16:creationId xmlns:a16="http://schemas.microsoft.com/office/drawing/2014/main" id="{0A4B7C93-96C9-62DD-D101-8FE84AB973CE}"/>
              </a:ext>
            </a:extLst>
          </p:cNvPr>
          <p:cNvSpPr/>
          <p:nvPr/>
        </p:nvSpPr>
        <p:spPr>
          <a:xfrm>
            <a:off x="3556219" y="1388262"/>
            <a:ext cx="2996215" cy="68465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6" name="Picture 5">
            <a:extLst>
              <a:ext uri="{FF2B5EF4-FFF2-40B4-BE49-F238E27FC236}">
                <a16:creationId xmlns:a16="http://schemas.microsoft.com/office/drawing/2014/main" id="{18A55CF3-66EF-3A6E-692F-5F22483C778C}"/>
              </a:ext>
            </a:extLst>
          </p:cNvPr>
          <p:cNvPicPr>
            <a:picLocks noChangeAspect="1"/>
          </p:cNvPicPr>
          <p:nvPr/>
        </p:nvPicPr>
        <p:blipFill>
          <a:blip r:embed="rId4"/>
          <a:stretch>
            <a:fillRect/>
          </a:stretch>
        </p:blipFill>
        <p:spPr>
          <a:xfrm>
            <a:off x="1236755" y="4038558"/>
            <a:ext cx="8094281" cy="2659968"/>
          </a:xfrm>
          <a:prstGeom prst="rect">
            <a:avLst/>
          </a:prstGeom>
        </p:spPr>
      </p:pic>
      <p:sp>
        <p:nvSpPr>
          <p:cNvPr id="2" name="Footer Placeholder 1">
            <a:extLst>
              <a:ext uri="{FF2B5EF4-FFF2-40B4-BE49-F238E27FC236}">
                <a16:creationId xmlns:a16="http://schemas.microsoft.com/office/drawing/2014/main" id="{F680C262-ACA2-9168-DC09-240CEB2EB7A5}"/>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176543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3B521-D27D-AB09-9340-93B6C808B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FCDBD-5551-7AB3-8AAF-8AAA8208C791}"/>
              </a:ext>
            </a:extLst>
          </p:cNvPr>
          <p:cNvSpPr>
            <a:spLocks noGrp="1"/>
          </p:cNvSpPr>
          <p:nvPr>
            <p:ph type="title"/>
          </p:nvPr>
        </p:nvSpPr>
        <p:spPr/>
        <p:txBody>
          <a:bodyPr/>
          <a:lstStyle/>
          <a:p>
            <a:r>
              <a:rPr lang="en-SG" dirty="0"/>
              <a:t>4. Merging the data using matching score and demographic reference table cont.</a:t>
            </a:r>
          </a:p>
        </p:txBody>
      </p:sp>
      <p:graphicFrame>
        <p:nvGraphicFramePr>
          <p:cNvPr id="8" name="Content Placeholder 7">
            <a:extLst>
              <a:ext uri="{FF2B5EF4-FFF2-40B4-BE49-F238E27FC236}">
                <a16:creationId xmlns:a16="http://schemas.microsoft.com/office/drawing/2014/main" id="{DD8953CE-80E2-2BE8-286C-D64B861E079C}"/>
              </a:ext>
            </a:extLst>
          </p:cNvPr>
          <p:cNvGraphicFramePr>
            <a:graphicFrameLocks noGrp="1"/>
          </p:cNvGraphicFramePr>
          <p:nvPr>
            <p:ph idx="1"/>
            <p:extLst>
              <p:ext uri="{D42A27DB-BD31-4B8C-83A1-F6EECF244321}">
                <p14:modId xmlns:p14="http://schemas.microsoft.com/office/powerpoint/2010/main" val="266304815"/>
              </p:ext>
            </p:extLst>
          </p:nvPr>
        </p:nvGraphicFramePr>
        <p:xfrm>
          <a:off x="181118" y="1851290"/>
          <a:ext cx="11853121" cy="1854200"/>
        </p:xfrm>
        <a:graphic>
          <a:graphicData uri="http://schemas.openxmlformats.org/drawingml/2006/table">
            <a:tbl>
              <a:tblPr firstRow="1" bandRow="1">
                <a:tableStyleId>{5C22544A-7EE6-4342-B048-85BDC9FD1C3A}</a:tableStyleId>
              </a:tblPr>
              <a:tblGrid>
                <a:gridCol w="866536">
                  <a:extLst>
                    <a:ext uri="{9D8B030D-6E8A-4147-A177-3AD203B41FA5}">
                      <a16:colId xmlns:a16="http://schemas.microsoft.com/office/drawing/2014/main" val="164333066"/>
                    </a:ext>
                  </a:extLst>
                </a:gridCol>
                <a:gridCol w="799525">
                  <a:extLst>
                    <a:ext uri="{9D8B030D-6E8A-4147-A177-3AD203B41FA5}">
                      <a16:colId xmlns:a16="http://schemas.microsoft.com/office/drawing/2014/main" val="3431267296"/>
                    </a:ext>
                  </a:extLst>
                </a:gridCol>
                <a:gridCol w="1201828">
                  <a:extLst>
                    <a:ext uri="{9D8B030D-6E8A-4147-A177-3AD203B41FA5}">
                      <a16:colId xmlns:a16="http://schemas.microsoft.com/office/drawing/2014/main" val="849722697"/>
                    </a:ext>
                  </a:extLst>
                </a:gridCol>
                <a:gridCol w="847532">
                  <a:extLst>
                    <a:ext uri="{9D8B030D-6E8A-4147-A177-3AD203B41FA5}">
                      <a16:colId xmlns:a16="http://schemas.microsoft.com/office/drawing/2014/main" val="2994616270"/>
                    </a:ext>
                  </a:extLst>
                </a:gridCol>
                <a:gridCol w="1064394">
                  <a:extLst>
                    <a:ext uri="{9D8B030D-6E8A-4147-A177-3AD203B41FA5}">
                      <a16:colId xmlns:a16="http://schemas.microsoft.com/office/drawing/2014/main" val="2841536276"/>
                    </a:ext>
                  </a:extLst>
                </a:gridCol>
                <a:gridCol w="955963">
                  <a:extLst>
                    <a:ext uri="{9D8B030D-6E8A-4147-A177-3AD203B41FA5}">
                      <a16:colId xmlns:a16="http://schemas.microsoft.com/office/drawing/2014/main" val="2380213979"/>
                    </a:ext>
                  </a:extLst>
                </a:gridCol>
                <a:gridCol w="764197">
                  <a:extLst>
                    <a:ext uri="{9D8B030D-6E8A-4147-A177-3AD203B41FA5}">
                      <a16:colId xmlns:a16="http://schemas.microsoft.com/office/drawing/2014/main" val="1030091683"/>
                    </a:ext>
                  </a:extLst>
                </a:gridCol>
                <a:gridCol w="1147729">
                  <a:extLst>
                    <a:ext uri="{9D8B030D-6E8A-4147-A177-3AD203B41FA5}">
                      <a16:colId xmlns:a16="http://schemas.microsoft.com/office/drawing/2014/main" val="287076960"/>
                    </a:ext>
                  </a:extLst>
                </a:gridCol>
                <a:gridCol w="828111">
                  <a:extLst>
                    <a:ext uri="{9D8B030D-6E8A-4147-A177-3AD203B41FA5}">
                      <a16:colId xmlns:a16="http://schemas.microsoft.com/office/drawing/2014/main" val="1849447917"/>
                    </a:ext>
                  </a:extLst>
                </a:gridCol>
                <a:gridCol w="1083815">
                  <a:extLst>
                    <a:ext uri="{9D8B030D-6E8A-4147-A177-3AD203B41FA5}">
                      <a16:colId xmlns:a16="http://schemas.microsoft.com/office/drawing/2014/main" val="1943229743"/>
                    </a:ext>
                  </a:extLst>
                </a:gridCol>
                <a:gridCol w="2293491">
                  <a:extLst>
                    <a:ext uri="{9D8B030D-6E8A-4147-A177-3AD203B41FA5}">
                      <a16:colId xmlns:a16="http://schemas.microsoft.com/office/drawing/2014/main" val="3543883066"/>
                    </a:ext>
                  </a:extLst>
                </a:gridCol>
              </a:tblGrid>
              <a:tr h="370840">
                <a:tc>
                  <a:txBody>
                    <a:bodyPr/>
                    <a:lstStyle/>
                    <a:p>
                      <a:r>
                        <a:rPr lang="en-SG" dirty="0"/>
                        <a:t>ID1</a:t>
                      </a:r>
                    </a:p>
                  </a:txBody>
                  <a:tcPr/>
                </a:tc>
                <a:tc>
                  <a:txBody>
                    <a:bodyPr/>
                    <a:lstStyle/>
                    <a:p>
                      <a:r>
                        <a:rPr lang="en-SG" dirty="0"/>
                        <a:t>Age 1</a:t>
                      </a:r>
                    </a:p>
                  </a:txBody>
                  <a:tcPr/>
                </a:tc>
                <a:tc>
                  <a:txBody>
                    <a:bodyPr/>
                    <a:lstStyle/>
                    <a:p>
                      <a:r>
                        <a:rPr lang="en-SG" dirty="0"/>
                        <a:t>Gender 1</a:t>
                      </a:r>
                    </a:p>
                  </a:txBody>
                  <a:tcPr/>
                </a:tc>
                <a:tc>
                  <a:txBody>
                    <a:bodyPr/>
                    <a:lstStyle/>
                    <a:p>
                      <a:r>
                        <a:rPr lang="en-SG" dirty="0"/>
                        <a:t>CC 1</a:t>
                      </a:r>
                    </a:p>
                  </a:txBody>
                  <a:tcPr/>
                </a:tc>
                <a:tc>
                  <a:txBody>
                    <a:bodyPr/>
                    <a:lstStyle/>
                    <a:p>
                      <a:r>
                        <a:rPr lang="en-SG" dirty="0"/>
                        <a:t>Race 1*</a:t>
                      </a:r>
                    </a:p>
                  </a:txBody>
                  <a:tcPr/>
                </a:tc>
                <a:tc>
                  <a:txBody>
                    <a:bodyPr/>
                    <a:lstStyle/>
                    <a:p>
                      <a:r>
                        <a:rPr lang="en-SG" dirty="0"/>
                        <a:t>ID2</a:t>
                      </a:r>
                    </a:p>
                  </a:txBody>
                  <a:tcPr/>
                </a:tc>
                <a:tc>
                  <a:txBody>
                    <a:bodyPr/>
                    <a:lstStyle/>
                    <a:p>
                      <a:r>
                        <a:rPr lang="en-SG" dirty="0"/>
                        <a:t>Age 2</a:t>
                      </a:r>
                    </a:p>
                  </a:txBody>
                  <a:tcPr/>
                </a:tc>
                <a:tc>
                  <a:txBody>
                    <a:bodyPr/>
                    <a:lstStyle/>
                    <a:p>
                      <a:r>
                        <a:rPr lang="en-SG" dirty="0"/>
                        <a:t>Gender 2</a:t>
                      </a:r>
                    </a:p>
                  </a:txBody>
                  <a:tcPr/>
                </a:tc>
                <a:tc>
                  <a:txBody>
                    <a:bodyPr/>
                    <a:lstStyle/>
                    <a:p>
                      <a:r>
                        <a:rPr lang="en-SG" dirty="0"/>
                        <a:t>CC 2</a:t>
                      </a:r>
                    </a:p>
                  </a:txBody>
                  <a:tcPr/>
                </a:tc>
                <a:tc>
                  <a:txBody>
                    <a:bodyPr/>
                    <a:lstStyle/>
                    <a:p>
                      <a:r>
                        <a:rPr lang="en-SG" dirty="0"/>
                        <a:t>Race 2*</a:t>
                      </a:r>
                    </a:p>
                  </a:txBody>
                  <a:tcPr/>
                </a:tc>
                <a:tc>
                  <a:txBody>
                    <a:bodyPr/>
                    <a:lstStyle/>
                    <a:p>
                      <a:r>
                        <a:rPr lang="en-SG" dirty="0"/>
                        <a:t>Matching Score</a:t>
                      </a:r>
                    </a:p>
                  </a:txBody>
                  <a:tcPr/>
                </a:tc>
                <a:extLst>
                  <a:ext uri="{0D108BD9-81ED-4DB2-BD59-A6C34878D82A}">
                    <a16:rowId xmlns:a16="http://schemas.microsoft.com/office/drawing/2014/main" val="2450310988"/>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3089127628"/>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2790346833"/>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653088568"/>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2296299096"/>
                  </a:ext>
                </a:extLst>
              </a:tr>
            </a:tbl>
          </a:graphicData>
        </a:graphic>
      </p:graphicFrame>
      <p:sp>
        <p:nvSpPr>
          <p:cNvPr id="9" name="TextBox 8">
            <a:extLst>
              <a:ext uri="{FF2B5EF4-FFF2-40B4-BE49-F238E27FC236}">
                <a16:creationId xmlns:a16="http://schemas.microsoft.com/office/drawing/2014/main" id="{27A2209C-FBDA-C3C5-9A74-76796CD49443}"/>
              </a:ext>
            </a:extLst>
          </p:cNvPr>
          <p:cNvSpPr txBox="1"/>
          <p:nvPr/>
        </p:nvSpPr>
        <p:spPr>
          <a:xfrm>
            <a:off x="1070629" y="6235381"/>
            <a:ext cx="8316187" cy="369332"/>
          </a:xfrm>
          <a:prstGeom prst="rect">
            <a:avLst/>
          </a:prstGeom>
          <a:noFill/>
        </p:spPr>
        <p:txBody>
          <a:bodyPr wrap="none" rtlCol="0">
            <a:spAutoFit/>
          </a:bodyPr>
          <a:lstStyle/>
          <a:p>
            <a:r>
              <a:rPr lang="en-SG" dirty="0"/>
              <a:t>*Race will not be collected, leaving it here due to code pending change and testing</a:t>
            </a:r>
          </a:p>
        </p:txBody>
      </p:sp>
      <p:sp>
        <p:nvSpPr>
          <p:cNvPr id="3" name="Footer Placeholder 2">
            <a:extLst>
              <a:ext uri="{FF2B5EF4-FFF2-40B4-BE49-F238E27FC236}">
                <a16:creationId xmlns:a16="http://schemas.microsoft.com/office/drawing/2014/main" id="{15501F64-F36B-5E27-8093-E38830125A17}"/>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3732183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D66B4-F051-F4A5-A028-6CCEB03AF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1A2A7-E743-C6DB-8D19-66622F538FC9}"/>
              </a:ext>
            </a:extLst>
          </p:cNvPr>
          <p:cNvSpPr>
            <a:spLocks noGrp="1"/>
          </p:cNvSpPr>
          <p:nvPr>
            <p:ph type="title"/>
          </p:nvPr>
        </p:nvSpPr>
        <p:spPr/>
        <p:txBody>
          <a:bodyPr/>
          <a:lstStyle/>
          <a:p>
            <a:r>
              <a:rPr lang="en-SG" dirty="0"/>
              <a:t>5. Computing ranking based on the threshold</a:t>
            </a:r>
          </a:p>
        </p:txBody>
      </p:sp>
      <p:sp>
        <p:nvSpPr>
          <p:cNvPr id="4" name="Content Placeholder 3">
            <a:extLst>
              <a:ext uri="{FF2B5EF4-FFF2-40B4-BE49-F238E27FC236}">
                <a16:creationId xmlns:a16="http://schemas.microsoft.com/office/drawing/2014/main" id="{D8B5F1D8-CEA8-9624-21F3-FD306E6D6C10}"/>
              </a:ext>
            </a:extLst>
          </p:cNvPr>
          <p:cNvSpPr>
            <a:spLocks noGrp="1"/>
          </p:cNvSpPr>
          <p:nvPr>
            <p:ph idx="1"/>
          </p:nvPr>
        </p:nvSpPr>
        <p:spPr/>
        <p:txBody>
          <a:bodyPr/>
          <a:lstStyle/>
          <a:p>
            <a:r>
              <a:rPr lang="en-SG" dirty="0"/>
              <a:t>With the threshold, we are able to calculate FPIR and FNIR</a:t>
            </a:r>
          </a:p>
          <a:p>
            <a:pPr lvl="1"/>
            <a:r>
              <a:rPr lang="en-SG" dirty="0"/>
              <a:t>FPIR: False Positive Identification Rate</a:t>
            </a:r>
          </a:p>
          <a:p>
            <a:pPr lvl="1"/>
            <a:r>
              <a:rPr lang="en-SG" dirty="0"/>
              <a:t>FNIR: False Negative Identification Rate</a:t>
            </a:r>
          </a:p>
          <a:p>
            <a:pPr lvl="1"/>
            <a:r>
              <a:rPr lang="en-SG" dirty="0"/>
              <a:t>Zero for both means that the system is the best</a:t>
            </a:r>
          </a:p>
          <a:p>
            <a:r>
              <a:rPr lang="en-SG" dirty="0"/>
              <a:t>Sets a threshold, then computes genuine and imposter matches</a:t>
            </a:r>
          </a:p>
          <a:p>
            <a:r>
              <a:rPr lang="en-SG" dirty="0"/>
              <a:t>Non-mated score above the threshold will count as a false positive (FPIR)</a:t>
            </a:r>
          </a:p>
          <a:p>
            <a:r>
              <a:rPr lang="en-SG" dirty="0"/>
              <a:t>Mated score below the threshold will count as a false negative (FNIR)</a:t>
            </a:r>
          </a:p>
        </p:txBody>
      </p:sp>
      <p:sp>
        <p:nvSpPr>
          <p:cNvPr id="3" name="Footer Placeholder 2">
            <a:extLst>
              <a:ext uri="{FF2B5EF4-FFF2-40B4-BE49-F238E27FC236}">
                <a16:creationId xmlns:a16="http://schemas.microsoft.com/office/drawing/2014/main" id="{E101DA3A-CD28-43AC-6BFE-838988CB3F6F}"/>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3431778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E3D6-1DE1-F6BA-239B-9554DC5AADCB}"/>
              </a:ext>
            </a:extLst>
          </p:cNvPr>
          <p:cNvSpPr>
            <a:spLocks noGrp="1"/>
          </p:cNvSpPr>
          <p:nvPr>
            <p:ph type="title"/>
          </p:nvPr>
        </p:nvSpPr>
        <p:spPr/>
        <p:txBody>
          <a:bodyPr/>
          <a:lstStyle/>
          <a:p>
            <a:r>
              <a:rPr lang="en-SG" dirty="0"/>
              <a:t>Our Progress </a:t>
            </a:r>
            <a:r>
              <a:rPr lang="en-SG"/>
              <a:t>for 1:1 study</a:t>
            </a:r>
            <a:endParaRPr lang="en-SG" dirty="0"/>
          </a:p>
        </p:txBody>
      </p:sp>
      <p:graphicFrame>
        <p:nvGraphicFramePr>
          <p:cNvPr id="4" name="Content Placeholder 3">
            <a:extLst>
              <a:ext uri="{FF2B5EF4-FFF2-40B4-BE49-F238E27FC236}">
                <a16:creationId xmlns:a16="http://schemas.microsoft.com/office/drawing/2014/main" id="{4B7B94DC-64A4-C544-AB5E-2CD9D9619761}"/>
              </a:ext>
            </a:extLst>
          </p:cNvPr>
          <p:cNvGraphicFramePr>
            <a:graphicFrameLocks noGrp="1"/>
          </p:cNvGraphicFramePr>
          <p:nvPr>
            <p:ph idx="1"/>
            <p:extLst>
              <p:ext uri="{D42A27DB-BD31-4B8C-83A1-F6EECF244321}">
                <p14:modId xmlns:p14="http://schemas.microsoft.com/office/powerpoint/2010/main" val="1568928311"/>
              </p:ext>
            </p:extLst>
          </p:nvPr>
        </p:nvGraphicFramePr>
        <p:xfrm>
          <a:off x="838200" y="1825625"/>
          <a:ext cx="10515600" cy="4984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0B890499-E73A-AB1E-9A91-E9975A51609E}"/>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260924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8A123-FAA2-0087-EF9D-07BD32C04F6C}"/>
              </a:ext>
            </a:extLst>
          </p:cNvPr>
          <p:cNvSpPr>
            <a:spLocks noGrp="1"/>
          </p:cNvSpPr>
          <p:nvPr>
            <p:ph type="title"/>
          </p:nvPr>
        </p:nvSpPr>
        <p:spPr/>
        <p:txBody>
          <a:bodyPr/>
          <a:lstStyle/>
          <a:p>
            <a:r>
              <a:rPr lang="en-SG" dirty="0"/>
              <a:t>Timeline</a:t>
            </a:r>
          </a:p>
        </p:txBody>
      </p:sp>
      <p:graphicFrame>
        <p:nvGraphicFramePr>
          <p:cNvPr id="4" name="Content Placeholder 3">
            <a:extLst>
              <a:ext uri="{FF2B5EF4-FFF2-40B4-BE49-F238E27FC236}">
                <a16:creationId xmlns:a16="http://schemas.microsoft.com/office/drawing/2014/main" id="{4FFD85B8-1B9F-5D86-5932-5F5BCEADA07D}"/>
              </a:ext>
            </a:extLst>
          </p:cNvPr>
          <p:cNvGraphicFramePr>
            <a:graphicFrameLocks noGrp="1"/>
          </p:cNvGraphicFramePr>
          <p:nvPr>
            <p:ph idx="1"/>
            <p:extLst>
              <p:ext uri="{D42A27DB-BD31-4B8C-83A1-F6EECF244321}">
                <p14:modId xmlns:p14="http://schemas.microsoft.com/office/powerpoint/2010/main" val="185132114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3E910DD5-EFA1-0498-A30B-8EE926DE26C5}"/>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1952691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5D759E-FCE3-1F4E-4EAE-787FD1F609BE}"/>
              </a:ext>
            </a:extLst>
          </p:cNvPr>
          <p:cNvSpPr>
            <a:spLocks noGrp="1"/>
          </p:cNvSpPr>
          <p:nvPr>
            <p:ph type="title"/>
          </p:nvPr>
        </p:nvSpPr>
        <p:spPr/>
        <p:txBody>
          <a:bodyPr/>
          <a:lstStyle/>
          <a:p>
            <a:r>
              <a:rPr lang="en-US" dirty="0"/>
              <a:t>Work in Progress</a:t>
            </a:r>
            <a:endParaRPr lang="en-SG" dirty="0"/>
          </a:p>
        </p:txBody>
      </p:sp>
      <p:sp>
        <p:nvSpPr>
          <p:cNvPr id="5" name="Content Placeholder 4">
            <a:extLst>
              <a:ext uri="{FF2B5EF4-FFF2-40B4-BE49-F238E27FC236}">
                <a16:creationId xmlns:a16="http://schemas.microsoft.com/office/drawing/2014/main" id="{094EA3DB-4BE5-955C-FB1B-C1433AD76BD5}"/>
              </a:ext>
            </a:extLst>
          </p:cNvPr>
          <p:cNvSpPr>
            <a:spLocks noGrp="1"/>
          </p:cNvSpPr>
          <p:nvPr>
            <p:ph idx="1"/>
          </p:nvPr>
        </p:nvSpPr>
        <p:spPr/>
        <p:txBody>
          <a:bodyPr/>
          <a:lstStyle/>
          <a:p>
            <a:r>
              <a:rPr lang="en-US" dirty="0"/>
              <a:t>Filename extraction for demographic information</a:t>
            </a:r>
          </a:p>
          <a:p>
            <a:r>
              <a:rPr lang="en-US" dirty="0"/>
              <a:t>Migration to Panther Desktop</a:t>
            </a:r>
          </a:p>
          <a:p>
            <a:pPr lvl="1"/>
            <a:r>
              <a:rPr lang="en-US" dirty="0"/>
              <a:t>Setup DB/Copy the DB over to Panther</a:t>
            </a:r>
          </a:p>
          <a:p>
            <a:pPr lvl="1"/>
            <a:r>
              <a:rPr lang="en-US" dirty="0"/>
              <a:t>Python Environment on Panther</a:t>
            </a:r>
          </a:p>
          <a:p>
            <a:r>
              <a:rPr lang="en-US" dirty="0"/>
              <a:t>Merging of </a:t>
            </a:r>
            <a:r>
              <a:rPr lang="en-US" dirty="0" err="1"/>
              <a:t>Dataframes</a:t>
            </a:r>
            <a:r>
              <a:rPr lang="en-US" dirty="0"/>
              <a:t> for multiple filenames</a:t>
            </a:r>
          </a:p>
          <a:p>
            <a:r>
              <a:rPr lang="en-US" dirty="0"/>
              <a:t>Implementing RAM Fix codes</a:t>
            </a:r>
          </a:p>
          <a:p>
            <a:r>
              <a:rPr lang="en-US" dirty="0"/>
              <a:t>Merging of all the necessary functionalities into implementation test script</a:t>
            </a:r>
          </a:p>
          <a:p>
            <a:endParaRPr lang="en-US" dirty="0"/>
          </a:p>
          <a:p>
            <a:endParaRPr lang="en-SG" dirty="0"/>
          </a:p>
        </p:txBody>
      </p:sp>
      <p:sp>
        <p:nvSpPr>
          <p:cNvPr id="2" name="Footer Placeholder 1">
            <a:extLst>
              <a:ext uri="{FF2B5EF4-FFF2-40B4-BE49-F238E27FC236}">
                <a16:creationId xmlns:a16="http://schemas.microsoft.com/office/drawing/2014/main" id="{F7171A63-18CB-01C1-D9EF-5B68F6415E34}"/>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1726790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978BC-9962-18D2-AA77-0D5E8D48AD73}"/>
              </a:ext>
            </a:extLst>
          </p:cNvPr>
          <p:cNvSpPr>
            <a:spLocks noGrp="1"/>
          </p:cNvSpPr>
          <p:nvPr>
            <p:ph type="title"/>
          </p:nvPr>
        </p:nvSpPr>
        <p:spPr/>
        <p:txBody>
          <a:bodyPr/>
          <a:lstStyle/>
          <a:p>
            <a:r>
              <a:rPr lang="en-SG" dirty="0"/>
              <a:t>Work in progress</a:t>
            </a:r>
          </a:p>
        </p:txBody>
      </p:sp>
      <p:sp>
        <p:nvSpPr>
          <p:cNvPr id="3" name="Content Placeholder 2">
            <a:extLst>
              <a:ext uri="{FF2B5EF4-FFF2-40B4-BE49-F238E27FC236}">
                <a16:creationId xmlns:a16="http://schemas.microsoft.com/office/drawing/2014/main" id="{29AC4FA8-404C-500A-D8A9-C5779825E077}"/>
              </a:ext>
            </a:extLst>
          </p:cNvPr>
          <p:cNvSpPr>
            <a:spLocks noGrp="1"/>
          </p:cNvSpPr>
          <p:nvPr>
            <p:ph idx="1"/>
          </p:nvPr>
        </p:nvSpPr>
        <p:spPr>
          <a:xfrm>
            <a:off x="838200" y="1825625"/>
            <a:ext cx="10515600" cy="890006"/>
          </a:xfrm>
        </p:spPr>
        <p:txBody>
          <a:bodyPr>
            <a:normAutofit/>
          </a:bodyPr>
          <a:lstStyle/>
          <a:p>
            <a:pPr marL="514350" indent="-514350">
              <a:buFont typeface="+mj-lt"/>
              <a:buAutoNum type="arabicPeriod"/>
            </a:pPr>
            <a:r>
              <a:rPr lang="en-SG" dirty="0"/>
              <a:t>Script for generating a reference table from the images provided (see below)</a:t>
            </a:r>
          </a:p>
        </p:txBody>
      </p:sp>
      <p:graphicFrame>
        <p:nvGraphicFramePr>
          <p:cNvPr id="4" name="Table 3">
            <a:extLst>
              <a:ext uri="{FF2B5EF4-FFF2-40B4-BE49-F238E27FC236}">
                <a16:creationId xmlns:a16="http://schemas.microsoft.com/office/drawing/2014/main" id="{5366A214-BDE5-09BB-F358-F81D9BDB3C47}"/>
              </a:ext>
            </a:extLst>
          </p:cNvPr>
          <p:cNvGraphicFramePr>
            <a:graphicFrameLocks noGrp="1"/>
          </p:cNvGraphicFramePr>
          <p:nvPr>
            <p:extLst>
              <p:ext uri="{D42A27DB-BD31-4B8C-83A1-F6EECF244321}">
                <p14:modId xmlns:p14="http://schemas.microsoft.com/office/powerpoint/2010/main" val="2331077302"/>
              </p:ext>
            </p:extLst>
          </p:nvPr>
        </p:nvGraphicFramePr>
        <p:xfrm>
          <a:off x="1346200" y="2627766"/>
          <a:ext cx="9555940" cy="2768600"/>
        </p:xfrm>
        <a:graphic>
          <a:graphicData uri="http://schemas.openxmlformats.org/drawingml/2006/table">
            <a:tbl>
              <a:tblPr firstRow="1" bandRow="1">
                <a:tableStyleId>{5C22544A-7EE6-4342-B048-85BDC9FD1C3A}</a:tableStyleId>
              </a:tblPr>
              <a:tblGrid>
                <a:gridCol w="1911188">
                  <a:extLst>
                    <a:ext uri="{9D8B030D-6E8A-4147-A177-3AD203B41FA5}">
                      <a16:colId xmlns:a16="http://schemas.microsoft.com/office/drawing/2014/main" val="1225429792"/>
                    </a:ext>
                  </a:extLst>
                </a:gridCol>
                <a:gridCol w="1911188">
                  <a:extLst>
                    <a:ext uri="{9D8B030D-6E8A-4147-A177-3AD203B41FA5}">
                      <a16:colId xmlns:a16="http://schemas.microsoft.com/office/drawing/2014/main" val="3099952828"/>
                    </a:ext>
                  </a:extLst>
                </a:gridCol>
                <a:gridCol w="1911188">
                  <a:extLst>
                    <a:ext uri="{9D8B030D-6E8A-4147-A177-3AD203B41FA5}">
                      <a16:colId xmlns:a16="http://schemas.microsoft.com/office/drawing/2014/main" val="4123091072"/>
                    </a:ext>
                  </a:extLst>
                </a:gridCol>
                <a:gridCol w="1911188">
                  <a:extLst>
                    <a:ext uri="{9D8B030D-6E8A-4147-A177-3AD203B41FA5}">
                      <a16:colId xmlns:a16="http://schemas.microsoft.com/office/drawing/2014/main" val="1490420821"/>
                    </a:ext>
                  </a:extLst>
                </a:gridCol>
                <a:gridCol w="1911188">
                  <a:extLst>
                    <a:ext uri="{9D8B030D-6E8A-4147-A177-3AD203B41FA5}">
                      <a16:colId xmlns:a16="http://schemas.microsoft.com/office/drawing/2014/main" val="99193192"/>
                    </a:ext>
                  </a:extLst>
                </a:gridCol>
              </a:tblGrid>
              <a:tr h="370840">
                <a:tc>
                  <a:txBody>
                    <a:bodyPr/>
                    <a:lstStyle/>
                    <a:p>
                      <a:r>
                        <a:rPr lang="en-SG" dirty="0"/>
                        <a:t>ID1</a:t>
                      </a:r>
                    </a:p>
                  </a:txBody>
                  <a:tcPr/>
                </a:tc>
                <a:tc>
                  <a:txBody>
                    <a:bodyPr/>
                    <a:lstStyle/>
                    <a:p>
                      <a:r>
                        <a:rPr lang="en-SG" dirty="0"/>
                        <a:t>Age Group</a:t>
                      </a:r>
                    </a:p>
                  </a:txBody>
                  <a:tcPr/>
                </a:tc>
                <a:tc>
                  <a:txBody>
                    <a:bodyPr/>
                    <a:lstStyle/>
                    <a:p>
                      <a:r>
                        <a:rPr lang="en-SG" dirty="0"/>
                        <a:t>Gender</a:t>
                      </a:r>
                    </a:p>
                  </a:txBody>
                  <a:tcPr/>
                </a:tc>
                <a:tc>
                  <a:txBody>
                    <a:bodyPr/>
                    <a:lstStyle/>
                    <a:p>
                      <a:r>
                        <a:rPr lang="en-SG" dirty="0"/>
                        <a:t>Country Code</a:t>
                      </a:r>
                    </a:p>
                  </a:txBody>
                  <a:tcPr/>
                </a:tc>
                <a:tc>
                  <a:txBody>
                    <a:bodyPr/>
                    <a:lstStyle/>
                    <a:p>
                      <a:r>
                        <a:rPr lang="en-SG" dirty="0"/>
                        <a:t>Modality</a:t>
                      </a:r>
                    </a:p>
                  </a:txBody>
                  <a:tcPr/>
                </a:tc>
                <a:extLst>
                  <a:ext uri="{0D108BD9-81ED-4DB2-BD59-A6C34878D82A}">
                    <a16:rowId xmlns:a16="http://schemas.microsoft.com/office/drawing/2014/main" val="4191366114"/>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r>
                        <a:rPr lang="en-SG" dirty="0"/>
                        <a:t>Enrolled, etc</a:t>
                      </a:r>
                      <a:br>
                        <a:rPr lang="en-SG" dirty="0"/>
                      </a:br>
                      <a:r>
                        <a:rPr lang="en-SG" dirty="0"/>
                        <a:t>Face, Left/Right Iris.</a:t>
                      </a:r>
                    </a:p>
                  </a:txBody>
                  <a:tcPr/>
                </a:tc>
                <a:extLst>
                  <a:ext uri="{0D108BD9-81ED-4DB2-BD59-A6C34878D82A}">
                    <a16:rowId xmlns:a16="http://schemas.microsoft.com/office/drawing/2014/main" val="4182860850"/>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1918339124"/>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160373520"/>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3139973898"/>
                  </a:ext>
                </a:extLst>
              </a:tr>
              <a:tr h="370840">
                <a:tc>
                  <a:txBody>
                    <a:bodyPr/>
                    <a:lstStyle/>
                    <a:p>
                      <a:endParaRPr lang="en-SG" dirty="0"/>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367288409"/>
                  </a:ext>
                </a:extLst>
              </a:tr>
            </a:tbl>
          </a:graphicData>
        </a:graphic>
      </p:graphicFrame>
      <p:sp>
        <p:nvSpPr>
          <p:cNvPr id="5" name="Content Placeholder 2">
            <a:extLst>
              <a:ext uri="{FF2B5EF4-FFF2-40B4-BE49-F238E27FC236}">
                <a16:creationId xmlns:a16="http://schemas.microsoft.com/office/drawing/2014/main" id="{15306BB3-F0F8-378A-DA70-6FBC25FB58F5}"/>
              </a:ext>
            </a:extLst>
          </p:cNvPr>
          <p:cNvSpPr txBox="1">
            <a:spLocks/>
          </p:cNvSpPr>
          <p:nvPr/>
        </p:nvSpPr>
        <p:spPr>
          <a:xfrm>
            <a:off x="838200" y="5624738"/>
            <a:ext cx="10515600" cy="123326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dirty="0"/>
              <a:t>One of the reasons why we are doing this is to conserve space usage.</a:t>
            </a:r>
          </a:p>
          <a:p>
            <a:pPr marL="0" indent="0">
              <a:buNone/>
            </a:pPr>
            <a:r>
              <a:rPr lang="en-SG" dirty="0"/>
              <a:t>We also have the ability to reconstruct the information as per previous slides</a:t>
            </a:r>
          </a:p>
        </p:txBody>
      </p:sp>
      <p:sp>
        <p:nvSpPr>
          <p:cNvPr id="6" name="Footer Placeholder 5">
            <a:extLst>
              <a:ext uri="{FF2B5EF4-FFF2-40B4-BE49-F238E27FC236}">
                <a16:creationId xmlns:a16="http://schemas.microsoft.com/office/drawing/2014/main" id="{354E0248-FBDC-0DE8-5165-990E5A4CA595}"/>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2259043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B6851-CF30-7B38-F192-FE8B40872709}"/>
              </a:ext>
            </a:extLst>
          </p:cNvPr>
          <p:cNvSpPr>
            <a:spLocks noGrp="1"/>
          </p:cNvSpPr>
          <p:nvPr>
            <p:ph type="title"/>
          </p:nvPr>
        </p:nvSpPr>
        <p:spPr/>
        <p:txBody>
          <a:bodyPr/>
          <a:lstStyle/>
          <a:p>
            <a:r>
              <a:rPr lang="en-SG" dirty="0"/>
              <a:t>Future Work in Consideration</a:t>
            </a:r>
          </a:p>
        </p:txBody>
      </p:sp>
      <p:sp>
        <p:nvSpPr>
          <p:cNvPr id="3" name="Content Placeholder 2">
            <a:extLst>
              <a:ext uri="{FF2B5EF4-FFF2-40B4-BE49-F238E27FC236}">
                <a16:creationId xmlns:a16="http://schemas.microsoft.com/office/drawing/2014/main" id="{59DE4DF0-B531-A615-49A3-1124458FDBEC}"/>
              </a:ext>
            </a:extLst>
          </p:cNvPr>
          <p:cNvSpPr>
            <a:spLocks noGrp="1"/>
          </p:cNvSpPr>
          <p:nvPr>
            <p:ph idx="1"/>
          </p:nvPr>
        </p:nvSpPr>
        <p:spPr/>
        <p:txBody>
          <a:bodyPr/>
          <a:lstStyle/>
          <a:p>
            <a:r>
              <a:rPr lang="en-SG" dirty="0"/>
              <a:t>Docker environment to host the code and libraries required for the application</a:t>
            </a:r>
          </a:p>
          <a:p>
            <a:r>
              <a:rPr lang="en-SG" dirty="0" err="1"/>
              <a:t>Dockerization</a:t>
            </a:r>
            <a:r>
              <a:rPr lang="en-SG" dirty="0"/>
              <a:t> of the Database environment</a:t>
            </a:r>
          </a:p>
          <a:p>
            <a:r>
              <a:rPr lang="en-SG" dirty="0"/>
              <a:t>Implementing much more flexible scripts that allow user inputs for length of ID fields, matching score fields, etc.</a:t>
            </a:r>
          </a:p>
          <a:p>
            <a:pPr lvl="1"/>
            <a:r>
              <a:rPr lang="en-SG" dirty="0"/>
              <a:t>More use cases for other B&amp;P projects</a:t>
            </a:r>
          </a:p>
          <a:p>
            <a:pPr lvl="1"/>
            <a:r>
              <a:rPr lang="en-SG" dirty="0"/>
              <a:t>Provides an all in one analytics platform</a:t>
            </a:r>
          </a:p>
          <a:p>
            <a:pPr lvl="1"/>
            <a:r>
              <a:rPr lang="en-SG" dirty="0"/>
              <a:t>More analytics studies can leverage on this platform</a:t>
            </a:r>
          </a:p>
        </p:txBody>
      </p:sp>
      <p:sp>
        <p:nvSpPr>
          <p:cNvPr id="4" name="Footer Placeholder 3">
            <a:extLst>
              <a:ext uri="{FF2B5EF4-FFF2-40B4-BE49-F238E27FC236}">
                <a16:creationId xmlns:a16="http://schemas.microsoft.com/office/drawing/2014/main" id="{65E00271-F3FF-EA82-096D-C1415AF1EC14}"/>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3444816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F3BB-A39B-0F42-A906-6DCF830542A2}"/>
              </a:ext>
            </a:extLst>
          </p:cNvPr>
          <p:cNvSpPr>
            <a:spLocks noGrp="1"/>
          </p:cNvSpPr>
          <p:nvPr>
            <p:ph type="title"/>
          </p:nvPr>
        </p:nvSpPr>
        <p:spPr/>
        <p:txBody>
          <a:bodyPr/>
          <a:lstStyle/>
          <a:p>
            <a:r>
              <a:rPr lang="en-SG" dirty="0"/>
              <a:t>Documentation</a:t>
            </a:r>
          </a:p>
        </p:txBody>
      </p:sp>
      <p:sp>
        <p:nvSpPr>
          <p:cNvPr id="3" name="Content Placeholder 2">
            <a:extLst>
              <a:ext uri="{FF2B5EF4-FFF2-40B4-BE49-F238E27FC236}">
                <a16:creationId xmlns:a16="http://schemas.microsoft.com/office/drawing/2014/main" id="{2853B645-E188-D20A-DFE0-42F8B143E185}"/>
              </a:ext>
            </a:extLst>
          </p:cNvPr>
          <p:cNvSpPr>
            <a:spLocks noGrp="1"/>
          </p:cNvSpPr>
          <p:nvPr>
            <p:ph idx="1"/>
          </p:nvPr>
        </p:nvSpPr>
        <p:spPr/>
        <p:txBody>
          <a:bodyPr/>
          <a:lstStyle/>
          <a:p>
            <a:r>
              <a:rPr lang="en-SG" dirty="0"/>
              <a:t>Please see section on documentation for the detailed description of the different functionalities being implemented.</a:t>
            </a:r>
          </a:p>
          <a:p>
            <a:r>
              <a:rPr lang="en-SG" dirty="0"/>
              <a:t>This is still a work in progress just to ensure that the codes are properly documented for reference.</a:t>
            </a:r>
          </a:p>
          <a:p>
            <a:pPr lvl="1"/>
            <a:r>
              <a:rPr lang="en-SG" dirty="0"/>
              <a:t>Most of the documentation is done on the code itself</a:t>
            </a:r>
          </a:p>
          <a:p>
            <a:pPr lvl="1"/>
            <a:r>
              <a:rPr lang="en-SG" dirty="0"/>
              <a:t>Will spend some time to do the documentation once the code has been put into the production phase</a:t>
            </a:r>
          </a:p>
        </p:txBody>
      </p:sp>
      <p:sp>
        <p:nvSpPr>
          <p:cNvPr id="4" name="Footer Placeholder 3">
            <a:extLst>
              <a:ext uri="{FF2B5EF4-FFF2-40B4-BE49-F238E27FC236}">
                <a16:creationId xmlns:a16="http://schemas.microsoft.com/office/drawing/2014/main" id="{BD9FD30A-314E-F6B5-4819-7B3F30EB376A}"/>
              </a:ext>
            </a:extLst>
          </p:cNvPr>
          <p:cNvSpPr>
            <a:spLocks noGrp="1"/>
          </p:cNvSpPr>
          <p:nvPr>
            <p:ph type="ftr" sz="quarter" idx="11"/>
          </p:nvPr>
        </p:nvSpPr>
        <p:spPr/>
        <p:txBody>
          <a:bodyPr/>
          <a:lstStyle/>
          <a:p>
            <a:endParaRPr lang="en-SG"/>
          </a:p>
        </p:txBody>
      </p:sp>
    </p:spTree>
    <p:extLst>
      <p:ext uri="{BB962C8B-B14F-4D97-AF65-F5344CB8AC3E}">
        <p14:creationId xmlns:p14="http://schemas.microsoft.com/office/powerpoint/2010/main" val="1241141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640</TotalTime>
  <Words>1119</Words>
  <Application>Microsoft Office PowerPoint</Application>
  <PresentationFormat>Widescreen</PresentationFormat>
  <Paragraphs>153</Paragraphs>
  <Slides>26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Aptos Display</vt:lpstr>
      <vt:lpstr>Arial</vt:lpstr>
      <vt:lpstr>Office Theme</vt:lpstr>
      <vt:lpstr>Analytics Platform Feb Update</vt:lpstr>
      <vt:lpstr>Timeline</vt:lpstr>
      <vt:lpstr>Proposed migration to Polars</vt:lpstr>
      <vt:lpstr>Just to show some numbers and testing</vt:lpstr>
      <vt:lpstr>Graphs that we are able to produce</vt:lpstr>
      <vt:lpstr>Quality Score Distribution</vt:lpstr>
      <vt:lpstr>FAR and FRR Curve</vt:lpstr>
      <vt:lpstr>Quality Score 3D distribution</vt:lpstr>
      <vt:lpstr>2D Heatmap of Quality Scores</vt:lpstr>
      <vt:lpstr>How do we use the information from Quality Scores?</vt:lpstr>
      <vt:lpstr>Proposition</vt:lpstr>
      <vt:lpstr>Table of Contents</vt:lpstr>
      <vt:lpstr>What are the different folders for?</vt:lpstr>
      <vt:lpstr>What are the different folders for? Cont.</vt:lpstr>
      <vt:lpstr>What was being done at the backend?</vt:lpstr>
      <vt:lpstr>4. Merging the data using matching score and demographic reference table</vt:lpstr>
      <vt:lpstr>PowerPoint Presentation</vt:lpstr>
      <vt:lpstr>PowerPoint Presentation</vt:lpstr>
      <vt:lpstr>4. Merging the data using matching score and demographic reference table cont.</vt:lpstr>
      <vt:lpstr>5. Computing ranking based on the threshold</vt:lpstr>
      <vt:lpstr>Our Progress for 1:1 study</vt:lpstr>
      <vt:lpstr>Timeline</vt:lpstr>
      <vt:lpstr>Work in Progress</vt:lpstr>
      <vt:lpstr>Work in progress</vt:lpstr>
      <vt:lpstr>Future Work in Consideration</vt:lpstr>
      <vt:lpstr>Documentation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Timothy Lim Chun Gao</dc:creator>
  <cp:lastModifiedBy>Timothy CG LIM (HTX)</cp:lastModifiedBy>
  <cp:revision>70</cp:revision>
  <dcterms:created xsi:type="dcterms:W3CDTF">2025-01-10T02:40:14Z</dcterms:created>
  <dcterms:modified xsi:type="dcterms:W3CDTF">2025-02-11T07:02:29Z</dcterms:modified>
</cp:coreProperties>
</file>